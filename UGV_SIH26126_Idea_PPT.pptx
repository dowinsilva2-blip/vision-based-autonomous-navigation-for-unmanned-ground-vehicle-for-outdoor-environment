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9/30/2026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9/30/2026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9/30/2026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2.png"/><Relationship Id="rId7" Type="http://schemas.openxmlformats.org/officeDocument/2006/relationships/hyperlink" Target="https://drive.google.com/file/d/1m_wHDgbGW5Mp0zVa8QOgKJmSgEwwO_-0/view?usp=sharing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rive.google.com/file/d/1pGImBQUlQhzKXLqWdAf7mG4o9Yhj_6Mq/view?usp=sharing" TargetMode="External"/><Relationship Id="rId5" Type="http://schemas.openxmlformats.org/officeDocument/2006/relationships/hyperlink" Target="https://drive.google.com/file/d/125pQffKLJAayqhKMZkBQyjp6EXnLlQWD/view?usp=sharing" TargetMode="External"/><Relationship Id="rId4" Type="http://schemas.openxmlformats.org/officeDocument/2006/relationships/hyperlink" Target="https://drive.google.com/file/d/1wZpq88nyhnC834aIyTILMzvg1SSD1Asr/view?usp=sharing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1828800"/>
            <a:ext cx="5669280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SIH26126</a:t>
            </a:r>
          </a:p>
          <a:p>
            <a:pPr marL="285750" indent="-28575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Vision Based Autonomous Navigation for Unmanned Ground Vehicle for Outdoor Environment</a:t>
            </a:r>
          </a:p>
          <a:p>
            <a:pPr marL="285750" indent="-28575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Theme- </a:t>
            </a:r>
            <a:r>
              <a:rPr lang="en-IN" sz="2200" b="1" dirty="0">
                <a:latin typeface="Arial" panose="020B0604020202020204" pitchFamily="34" charset="0"/>
                <a:cs typeface="Arial" panose="020B0604020202020204" pitchFamily="34" charset="0"/>
              </a:rPr>
              <a:t>Smart Automation</a:t>
            </a:r>
            <a:endParaRPr lang="en-US" sz="2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</a:p>
          <a:p>
            <a:pPr marL="285750" indent="-28575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Team ID- 125626</a:t>
            </a:r>
          </a:p>
          <a:p>
            <a:pPr marL="285750" indent="-28575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Team Name- </a:t>
            </a:r>
            <a:r>
              <a:rPr lang="en-US" sz="2200" b="1" dirty="0" err="1">
                <a:latin typeface="Arial" panose="020B0604020202020204" pitchFamily="34" charset="0"/>
                <a:cs typeface="Arial" panose="020B0604020202020204" pitchFamily="34" charset="0"/>
              </a:rPr>
              <a:t>Innopath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691640" y="0"/>
            <a:ext cx="7955279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20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VISION-FIRST AUTONOMOUS UGV FOR GPS-DENIED OUTDOOR NAVIGATION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2" name="Rounded Rectangle 15361"/>
          <p:cNvSpPr/>
          <p:nvPr/>
        </p:nvSpPr>
        <p:spPr>
          <a:xfrm>
            <a:off x="274320" y="1371600"/>
            <a:ext cx="3429000" cy="2926080"/>
          </a:xfrm>
          <a:prstGeom prst="roundRect">
            <a:avLst>
              <a:gd name="adj" fmla="val 5000"/>
            </a:avLst>
          </a:prstGeom>
          <a:solidFill>
            <a:srgbClr val="EDF2F8"/>
          </a:solidFill>
          <a:ln w="19050">
            <a:solidFill>
              <a:srgbClr val="1F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63" name="Rounded Rectangle 15362"/>
          <p:cNvSpPr/>
          <p:nvPr/>
        </p:nvSpPr>
        <p:spPr>
          <a:xfrm>
            <a:off x="411479" y="1225296"/>
            <a:ext cx="1463040" cy="292608"/>
          </a:xfrm>
          <a:prstGeom prst="roundRect">
            <a:avLst>
              <a:gd name="adj" fmla="val 30000"/>
            </a:avLst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150" b="1" i="0">
                <a:solidFill>
                  <a:srgbClr val="FFFFFF"/>
                </a:solidFill>
                <a:latin typeface="Arial"/>
              </a:rPr>
              <a:t>PROBLEM</a:t>
            </a:r>
          </a:p>
        </p:txBody>
      </p:sp>
      <p:sp>
        <p:nvSpPr>
          <p:cNvPr id="15364" name="TextBox 15363"/>
          <p:cNvSpPr txBox="1"/>
          <p:nvPr/>
        </p:nvSpPr>
        <p:spPr>
          <a:xfrm>
            <a:off x="365760" y="1600200"/>
            <a:ext cx="3246120" cy="26974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marL="146304" indent="-146304" algn="l">
              <a:spcAft>
                <a:spcPts val="700"/>
              </a:spcAft>
              <a:buChar char="•"/>
            </a:pPr>
            <a:r>
              <a:rPr sz="1300" b="1" i="0">
                <a:solidFill>
                  <a:srgbClr val="1A1A1A"/>
                </a:solidFill>
                <a:latin typeface="Arial"/>
              </a:rPr>
              <a:t>GPS unreliable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 in forests, hills and disaster zones</a:t>
            </a:r>
          </a:p>
          <a:p>
            <a:pPr marL="146304" indent="-146304" algn="l">
              <a:spcAft>
                <a:spcPts val="700"/>
              </a:spcAft>
              <a:buChar char="•"/>
            </a:pPr>
            <a:r>
              <a:rPr sz="1300" b="1" i="0">
                <a:solidFill>
                  <a:srgbClr val="1A1A1A"/>
                </a:solidFill>
                <a:latin typeface="Arial"/>
              </a:rPr>
              <a:t>LiDAR-heavy UGVs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 are costly and power-hungry</a:t>
            </a:r>
          </a:p>
          <a:p>
            <a:pPr marL="146304" indent="-146304" algn="l">
              <a:spcAft>
                <a:spcPts val="700"/>
              </a:spcAft>
              <a:buChar char="•"/>
            </a:pPr>
            <a:r>
              <a:rPr sz="1300" b="1" i="0">
                <a:solidFill>
                  <a:srgbClr val="1A1A1A"/>
                </a:solidFill>
                <a:latin typeface="Arial"/>
              </a:rPr>
              <a:t>Unstructured terrain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 has no lanes or fixed map</a:t>
            </a:r>
          </a:p>
          <a:p>
            <a:pPr marL="146304" indent="-146304" algn="l">
              <a:spcAft>
                <a:spcPts val="700"/>
              </a:spcAft>
              <a:buChar char="•"/>
            </a:pPr>
            <a:r>
              <a:rPr sz="1300" b="1" i="0">
                <a:solidFill>
                  <a:srgbClr val="1A1A1A"/>
                </a:solidFill>
                <a:latin typeface="Arial"/>
              </a:rPr>
              <a:t>Lighting, shadows, dust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 change what the camera sees</a:t>
            </a:r>
          </a:p>
          <a:p>
            <a:pPr marL="146304" indent="-146304" algn="l">
              <a:spcAft>
                <a:spcPts val="700"/>
              </a:spcAft>
              <a:buChar char="•"/>
            </a:pPr>
            <a:r>
              <a:rPr sz="1300" b="1" i="0">
                <a:solidFill>
                  <a:srgbClr val="1A1A1A"/>
                </a:solidFill>
                <a:latin typeface="Arial"/>
              </a:rPr>
              <a:t>Moving obstacles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 need real-time replanning</a:t>
            </a:r>
          </a:p>
        </p:txBody>
      </p:sp>
      <p:sp>
        <p:nvSpPr>
          <p:cNvPr id="15365" name="Rounded Rectangle 15364"/>
          <p:cNvSpPr/>
          <p:nvPr/>
        </p:nvSpPr>
        <p:spPr>
          <a:xfrm>
            <a:off x="274320" y="4434840"/>
            <a:ext cx="3429000" cy="91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66" name="Rounded Rectangle 15365"/>
          <p:cNvSpPr/>
          <p:nvPr/>
        </p:nvSpPr>
        <p:spPr>
          <a:xfrm>
            <a:off x="274320" y="4389120"/>
            <a:ext cx="3429000" cy="868680"/>
          </a:xfrm>
          <a:prstGeom prst="roundRect">
            <a:avLst>
              <a:gd name="adj" fmla="val 10000"/>
            </a:avLst>
          </a:prstGeom>
          <a:solidFill>
            <a:srgbClr val="FFF4C7"/>
          </a:solidFill>
          <a:ln w="19050">
            <a:solidFill>
              <a:srgbClr val="D8B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67" name="TextBox 15366"/>
          <p:cNvSpPr txBox="1"/>
          <p:nvPr/>
        </p:nvSpPr>
        <p:spPr>
          <a:xfrm>
            <a:off x="320040" y="4416552"/>
            <a:ext cx="3337560" cy="82296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250" b="1" i="0">
                <a:solidFill>
                  <a:srgbClr val="1A1A1A"/>
                </a:solidFill>
                <a:latin typeface="Arial"/>
              </a:rPr>
              <a:t>KEY GAP</a:t>
            </a:r>
          </a:p>
          <a:p>
            <a:pPr algn="l">
              <a:spcAft>
                <a:spcPts val="100"/>
              </a:spcAft>
            </a:pPr>
            <a:r>
              <a:rPr sz="1250" b="1" i="0">
                <a:solidFill>
                  <a:srgbClr val="1A1A1A"/>
                </a:solidFill>
                <a:latin typeface="Arial"/>
              </a:rPr>
              <a:t>Low-cost navigation that needs no GPS and no prior map</a:t>
            </a:r>
          </a:p>
        </p:txBody>
      </p:sp>
      <p:sp>
        <p:nvSpPr>
          <p:cNvPr id="15368" name="Rounded Rectangle 15367"/>
          <p:cNvSpPr/>
          <p:nvPr/>
        </p:nvSpPr>
        <p:spPr>
          <a:xfrm>
            <a:off x="3931920" y="1371600"/>
            <a:ext cx="3931920" cy="3886200"/>
          </a:xfrm>
          <a:prstGeom prst="roundRect">
            <a:avLst>
              <a:gd name="adj" fmla="val 5000"/>
            </a:avLst>
          </a:prstGeom>
          <a:solidFill>
            <a:srgbClr val="EEF5F1"/>
          </a:solidFill>
          <a:ln w="1905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69" name="Rounded Rectangle 15368"/>
          <p:cNvSpPr/>
          <p:nvPr/>
        </p:nvSpPr>
        <p:spPr>
          <a:xfrm>
            <a:off x="4069080" y="1225296"/>
            <a:ext cx="2194560" cy="292608"/>
          </a:xfrm>
          <a:prstGeom prst="roundRect">
            <a:avLst>
              <a:gd name="adj" fmla="val 30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150" b="1" i="0">
                <a:solidFill>
                  <a:srgbClr val="FFFFFF"/>
                </a:solidFill>
                <a:latin typeface="Arial"/>
              </a:rPr>
              <a:t>PROPOSED SOLUTION</a:t>
            </a:r>
          </a:p>
        </p:txBody>
      </p:sp>
      <p:sp>
        <p:nvSpPr>
          <p:cNvPr id="15370" name="Rounded Rectangle 15369"/>
          <p:cNvSpPr/>
          <p:nvPr/>
        </p:nvSpPr>
        <p:spPr>
          <a:xfrm>
            <a:off x="4572000" y="1664208"/>
            <a:ext cx="2651760" cy="457200"/>
          </a:xfrm>
          <a:prstGeom prst="roundRect">
            <a:avLst>
              <a:gd name="adj" fmla="val 15000"/>
            </a:avLst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RGB Camera + IMU</a:t>
            </a:r>
          </a:p>
        </p:txBody>
      </p:sp>
      <p:sp>
        <p:nvSpPr>
          <p:cNvPr id="15371" name="Down Arrow 15370"/>
          <p:cNvSpPr/>
          <p:nvPr/>
        </p:nvSpPr>
        <p:spPr>
          <a:xfrm>
            <a:off x="5760720" y="2139696"/>
            <a:ext cx="274320" cy="182880"/>
          </a:xfrm>
          <a:prstGeom prst="down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72" name="Rounded Rectangle 15371"/>
          <p:cNvSpPr/>
          <p:nvPr/>
        </p:nvSpPr>
        <p:spPr>
          <a:xfrm>
            <a:off x="4572000" y="2350008"/>
            <a:ext cx="2651760" cy="457200"/>
          </a:xfrm>
          <a:prstGeom prst="roundRect">
            <a:avLst>
              <a:gd name="adj" fmla="val 15000"/>
            </a:avLst>
          </a:prstGeom>
          <a:solidFill>
            <a:srgbClr val="118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Perception AI</a:t>
            </a:r>
          </a:p>
        </p:txBody>
      </p:sp>
      <p:sp>
        <p:nvSpPr>
          <p:cNvPr id="15373" name="Down Arrow 15372"/>
          <p:cNvSpPr/>
          <p:nvPr/>
        </p:nvSpPr>
        <p:spPr>
          <a:xfrm>
            <a:off x="5760720" y="2825496"/>
            <a:ext cx="274320" cy="182880"/>
          </a:xfrm>
          <a:prstGeom prst="down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74" name="Rounded Rectangle 15373"/>
          <p:cNvSpPr/>
          <p:nvPr/>
        </p:nvSpPr>
        <p:spPr>
          <a:xfrm>
            <a:off x="4572000" y="3035808"/>
            <a:ext cx="2651760" cy="457200"/>
          </a:xfrm>
          <a:prstGeom prst="roundRect">
            <a:avLst>
              <a:gd name="adj" fmla="val 15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Visual Localization</a:t>
            </a:r>
          </a:p>
        </p:txBody>
      </p:sp>
      <p:sp>
        <p:nvSpPr>
          <p:cNvPr id="15375" name="Down Arrow 15374"/>
          <p:cNvSpPr/>
          <p:nvPr/>
        </p:nvSpPr>
        <p:spPr>
          <a:xfrm>
            <a:off x="5760720" y="3511296"/>
            <a:ext cx="274320" cy="182880"/>
          </a:xfrm>
          <a:prstGeom prst="down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76" name="Rounded Rectangle 15375"/>
          <p:cNvSpPr/>
          <p:nvPr/>
        </p:nvSpPr>
        <p:spPr>
          <a:xfrm>
            <a:off x="4572000" y="3721608"/>
            <a:ext cx="2651760" cy="457200"/>
          </a:xfrm>
          <a:prstGeom prst="roundRect">
            <a:avLst>
              <a:gd name="adj" fmla="val 15000"/>
            </a:avLst>
          </a:prstGeom>
          <a:solidFill>
            <a:srgbClr val="D96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Dynamic Planning</a:t>
            </a:r>
          </a:p>
        </p:txBody>
      </p:sp>
      <p:sp>
        <p:nvSpPr>
          <p:cNvPr id="15377" name="Down Arrow 15376"/>
          <p:cNvSpPr/>
          <p:nvPr/>
        </p:nvSpPr>
        <p:spPr>
          <a:xfrm>
            <a:off x="5760720" y="4197096"/>
            <a:ext cx="274320" cy="182880"/>
          </a:xfrm>
          <a:prstGeom prst="down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78" name="Rounded Rectangle 15377"/>
          <p:cNvSpPr/>
          <p:nvPr/>
        </p:nvSpPr>
        <p:spPr>
          <a:xfrm>
            <a:off x="4572000" y="4407408"/>
            <a:ext cx="2651760" cy="457200"/>
          </a:xfrm>
          <a:prstGeom prst="roundRect">
            <a:avLst>
              <a:gd name="adj" fmla="val 15000"/>
            </a:avLst>
          </a:prstGeom>
          <a:solidFill>
            <a:srgbClr val="6B4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Safe Navigation</a:t>
            </a:r>
          </a:p>
        </p:txBody>
      </p:sp>
      <p:sp>
        <p:nvSpPr>
          <p:cNvPr id="15379" name="Rounded Rectangle 15378"/>
          <p:cNvSpPr/>
          <p:nvPr/>
        </p:nvSpPr>
        <p:spPr>
          <a:xfrm>
            <a:off x="8092440" y="1371600"/>
            <a:ext cx="3840480" cy="3886200"/>
          </a:xfrm>
          <a:prstGeom prst="roundRect">
            <a:avLst>
              <a:gd name="adj" fmla="val 5000"/>
            </a:avLst>
          </a:prstGeom>
          <a:solidFill>
            <a:srgbClr val="F9EFEE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80" name="Rounded Rectangle 15379"/>
          <p:cNvSpPr/>
          <p:nvPr/>
        </p:nvSpPr>
        <p:spPr>
          <a:xfrm>
            <a:off x="8229600" y="1225296"/>
            <a:ext cx="1737360" cy="292608"/>
          </a:xfrm>
          <a:prstGeom prst="roundRect">
            <a:avLst>
              <a:gd name="adj" fmla="val 30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150" b="1" i="0">
                <a:solidFill>
                  <a:srgbClr val="FFFFFF"/>
                </a:solidFill>
                <a:latin typeface="Arial"/>
              </a:rPr>
              <a:t>OUR SOLUTION</a:t>
            </a:r>
          </a:p>
        </p:txBody>
      </p:sp>
      <p:sp>
        <p:nvSpPr>
          <p:cNvPr id="15381" name="TextBox 15380"/>
          <p:cNvSpPr txBox="1"/>
          <p:nvPr/>
        </p:nvSpPr>
        <p:spPr>
          <a:xfrm>
            <a:off x="8183879" y="1600200"/>
            <a:ext cx="3657600" cy="365760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marL="146304" indent="-146304" algn="l">
              <a:spcAft>
                <a:spcPts val="700"/>
              </a:spcAft>
              <a:buChar char="•"/>
            </a:pPr>
            <a:r>
              <a:rPr sz="1300" b="1" i="0">
                <a:solidFill>
                  <a:srgbClr val="1A1A1A"/>
                </a:solidFill>
                <a:latin typeface="Arial"/>
              </a:rPr>
              <a:t>Camera-first: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one RGB camera is the primary sensor</a:t>
            </a:r>
          </a:p>
          <a:p>
            <a:pPr marL="146304" indent="-146304" algn="l">
              <a:spcAft>
                <a:spcPts val="700"/>
              </a:spcAft>
              <a:buChar char="•"/>
            </a:pPr>
            <a:r>
              <a:rPr sz="1300" b="1" i="0">
                <a:solidFill>
                  <a:srgbClr val="1A1A1A"/>
                </a:solidFill>
                <a:latin typeface="Arial"/>
              </a:rPr>
              <a:t>Perception: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lightweight AI marks traversable ground and obstacles</a:t>
            </a:r>
          </a:p>
          <a:p>
            <a:pPr marL="146304" indent="-146304" algn="l">
              <a:spcAft>
                <a:spcPts val="700"/>
              </a:spcAft>
              <a:buChar char="•"/>
            </a:pPr>
            <a:r>
              <a:rPr sz="1300" b="1" i="0">
                <a:solidFill>
                  <a:srgbClr val="1A1A1A"/>
                </a:solidFill>
                <a:latin typeface="Arial"/>
              </a:rPr>
              <a:t>Localization: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visual odometry + SLAM give pose and a local map, no GPS</a:t>
            </a:r>
          </a:p>
          <a:p>
            <a:pPr marL="146304" indent="-146304" algn="l">
              <a:spcAft>
                <a:spcPts val="700"/>
              </a:spcAft>
              <a:buChar char="•"/>
            </a:pPr>
            <a:r>
              <a:rPr sz="1300" b="1" i="0">
                <a:solidFill>
                  <a:srgbClr val="1A1A1A"/>
                </a:solidFill>
                <a:latin typeface="Arial"/>
              </a:rPr>
              <a:t>Planning: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global + local planner replans around moving obstacles</a:t>
            </a:r>
          </a:p>
          <a:p>
            <a:pPr marL="146304" indent="-146304" algn="l">
              <a:spcAft>
                <a:spcPts val="700"/>
              </a:spcAft>
              <a:buChar char="•"/>
            </a:pPr>
            <a:r>
              <a:rPr sz="1300" b="1" i="0">
                <a:solidFill>
                  <a:srgbClr val="1A1A1A"/>
                </a:solidFill>
                <a:latin typeface="Arial"/>
              </a:rPr>
              <a:t>Control: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ESP32 turns path into motor commands</a:t>
            </a:r>
          </a:p>
        </p:txBody>
      </p:sp>
      <p:sp>
        <p:nvSpPr>
          <p:cNvPr id="15382" name="Rounded Rectangle 15381"/>
          <p:cNvSpPr/>
          <p:nvPr/>
        </p:nvSpPr>
        <p:spPr>
          <a:xfrm>
            <a:off x="274320" y="5486400"/>
            <a:ext cx="11658600" cy="777240"/>
          </a:xfrm>
          <a:prstGeom prst="roundRect">
            <a:avLst>
              <a:gd name="adj" fmla="val 5000"/>
            </a:avLst>
          </a:prstGeom>
          <a:solidFill>
            <a:srgbClr val="F4F2F8"/>
          </a:solidFill>
          <a:ln w="19050">
            <a:solidFill>
              <a:srgbClr val="6B4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83" name="Rounded Rectangle 15382"/>
          <p:cNvSpPr/>
          <p:nvPr/>
        </p:nvSpPr>
        <p:spPr>
          <a:xfrm>
            <a:off x="411479" y="5340096"/>
            <a:ext cx="2743200" cy="292608"/>
          </a:xfrm>
          <a:prstGeom prst="roundRect">
            <a:avLst>
              <a:gd name="adj" fmla="val 30000"/>
            </a:avLst>
          </a:prstGeom>
          <a:solidFill>
            <a:srgbClr val="6B4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150" b="1" i="0">
                <a:solidFill>
                  <a:srgbClr val="FFFFFF"/>
                </a:solidFill>
                <a:latin typeface="Arial"/>
              </a:rPr>
              <a:t>WHAT MAKES IT DIFFERENT?</a:t>
            </a:r>
          </a:p>
        </p:txBody>
      </p:sp>
      <p:sp>
        <p:nvSpPr>
          <p:cNvPr id="15384" name="TextBox 15383"/>
          <p:cNvSpPr txBox="1"/>
          <p:nvPr/>
        </p:nvSpPr>
        <p:spPr>
          <a:xfrm>
            <a:off x="411480" y="5669280"/>
            <a:ext cx="2788920" cy="54864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A1A1A"/>
                </a:solidFill>
                <a:latin typeface="Arial"/>
              </a:rPr>
              <a:t>01 Vision-first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Arial"/>
              </a:rPr>
              <a:t>one camera, no LiDAR</a:t>
            </a:r>
          </a:p>
        </p:txBody>
      </p:sp>
      <p:sp>
        <p:nvSpPr>
          <p:cNvPr id="15385" name="TextBox 15384"/>
          <p:cNvSpPr txBox="1"/>
          <p:nvPr/>
        </p:nvSpPr>
        <p:spPr>
          <a:xfrm>
            <a:off x="3291840" y="5669280"/>
            <a:ext cx="2788920" cy="54864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A1A1A"/>
                </a:solidFill>
                <a:latin typeface="Arial"/>
              </a:rPr>
              <a:t>02 GPS-independent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Arial"/>
              </a:rPr>
              <a:t>no prior map needed</a:t>
            </a:r>
          </a:p>
        </p:txBody>
      </p:sp>
      <p:sp>
        <p:nvSpPr>
          <p:cNvPr id="15386" name="TextBox 15385"/>
          <p:cNvSpPr txBox="1"/>
          <p:nvPr/>
        </p:nvSpPr>
        <p:spPr>
          <a:xfrm>
            <a:off x="6172200" y="5669280"/>
            <a:ext cx="2788920" cy="54864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A1A1A"/>
                </a:solidFill>
                <a:latin typeface="Arial"/>
              </a:rPr>
              <a:t>03 Lightweight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Arial"/>
              </a:rPr>
              <a:t>real-time on edge hardware</a:t>
            </a:r>
          </a:p>
        </p:txBody>
      </p:sp>
      <p:sp>
        <p:nvSpPr>
          <p:cNvPr id="15387" name="TextBox 15386"/>
          <p:cNvSpPr txBox="1"/>
          <p:nvPr/>
        </p:nvSpPr>
        <p:spPr>
          <a:xfrm>
            <a:off x="9052559" y="5669280"/>
            <a:ext cx="2788920" cy="54864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A1A1A"/>
                </a:solidFill>
                <a:latin typeface="Arial"/>
              </a:rPr>
              <a:t>04 Low-cost &amp; portable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Arial"/>
              </a:rPr>
              <a:t>fits different UGV platforms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AB05F36-5E26-4C7F-A5CF-68E38E8638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618" y="93436"/>
            <a:ext cx="1001847" cy="1001847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274320" y="1371600"/>
            <a:ext cx="2926080" cy="4846320"/>
          </a:xfrm>
          <a:prstGeom prst="roundRect">
            <a:avLst>
              <a:gd name="adj" fmla="val 5000"/>
            </a:avLst>
          </a:prstGeom>
          <a:solidFill>
            <a:srgbClr val="EDF2F8"/>
          </a:solidFill>
          <a:ln w="19050">
            <a:solidFill>
              <a:srgbClr val="1F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1" name="Rounded Rectangle 17410"/>
          <p:cNvSpPr/>
          <p:nvPr/>
        </p:nvSpPr>
        <p:spPr>
          <a:xfrm>
            <a:off x="411479" y="1225296"/>
            <a:ext cx="2743200" cy="292608"/>
          </a:xfrm>
          <a:prstGeom prst="roundRect">
            <a:avLst>
              <a:gd name="adj" fmla="val 30000"/>
            </a:avLst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150" b="1" i="0">
                <a:solidFill>
                  <a:srgbClr val="FFFFFF"/>
                </a:solidFill>
                <a:latin typeface="Arial"/>
              </a:rPr>
              <a:t>TECHNOLOGIES TO BE USED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384048" y="1600200"/>
            <a:ext cx="2706624" cy="4572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875">
            <a:solidFill>
              <a:srgbClr val="1F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3" name="TextBox 17412"/>
          <p:cNvSpPr txBox="1"/>
          <p:nvPr/>
        </p:nvSpPr>
        <p:spPr>
          <a:xfrm>
            <a:off x="457200" y="1609344"/>
            <a:ext cx="2606040" cy="45720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A1A1A"/>
                </a:solidFill>
                <a:latin typeface="Arial"/>
              </a:rPr>
              <a:t>01 | Camera + IMU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Arial"/>
              </a:rPr>
              <a:t>Sensing and motion cues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384048" y="2112264"/>
            <a:ext cx="2706624" cy="4572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875">
            <a:solidFill>
              <a:srgbClr val="1F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5" name="TextBox 17414"/>
          <p:cNvSpPr txBox="1"/>
          <p:nvPr/>
        </p:nvSpPr>
        <p:spPr>
          <a:xfrm>
            <a:off x="457200" y="2121408"/>
            <a:ext cx="2606040" cy="45720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A1A1A"/>
                </a:solidFill>
                <a:latin typeface="Arial"/>
              </a:rPr>
              <a:t>02 | Python + PyTorch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Arial"/>
              </a:rPr>
              <a:t>Model training, inference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384048" y="2624328"/>
            <a:ext cx="2706624" cy="4572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875">
            <a:solidFill>
              <a:srgbClr val="1F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7" name="TextBox 17416"/>
          <p:cNvSpPr txBox="1"/>
          <p:nvPr/>
        </p:nvSpPr>
        <p:spPr>
          <a:xfrm>
            <a:off x="457200" y="2633472"/>
            <a:ext cx="2606040" cy="45720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A1A1A"/>
                </a:solidFill>
                <a:latin typeface="Arial"/>
              </a:rPr>
              <a:t>03 | OpenCV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Arial"/>
              </a:rPr>
              <a:t>Image processing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384048" y="3136392"/>
            <a:ext cx="2706624" cy="4572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875">
            <a:solidFill>
              <a:srgbClr val="1F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9" name="TextBox 17418"/>
          <p:cNvSpPr txBox="1"/>
          <p:nvPr/>
        </p:nvSpPr>
        <p:spPr>
          <a:xfrm>
            <a:off x="457200" y="3145536"/>
            <a:ext cx="2606040" cy="45720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A1A1A"/>
                </a:solidFill>
                <a:latin typeface="Arial"/>
              </a:rPr>
              <a:t>04 | Lightweight AI model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Arial"/>
              </a:rPr>
              <a:t>Terrain + obstacle segmentation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384048" y="3648456"/>
            <a:ext cx="2706624" cy="4572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875">
            <a:solidFill>
              <a:srgbClr val="1F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1" name="TextBox 17420"/>
          <p:cNvSpPr txBox="1"/>
          <p:nvPr/>
        </p:nvSpPr>
        <p:spPr>
          <a:xfrm>
            <a:off x="457200" y="3657600"/>
            <a:ext cx="2606040" cy="45720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A1A1A"/>
                </a:solidFill>
                <a:latin typeface="Arial"/>
              </a:rPr>
              <a:t>05 | Visual Odometry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Arial"/>
              </a:rPr>
              <a:t>Frame-to-frame motion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384048" y="4160520"/>
            <a:ext cx="2706624" cy="4572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875">
            <a:solidFill>
              <a:srgbClr val="1F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3" name="TextBox 17422"/>
          <p:cNvSpPr txBox="1"/>
          <p:nvPr/>
        </p:nvSpPr>
        <p:spPr>
          <a:xfrm>
            <a:off x="457200" y="4169664"/>
            <a:ext cx="2606040" cy="45720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A1A1A"/>
                </a:solidFill>
                <a:latin typeface="Arial"/>
              </a:rPr>
              <a:t>06 | Visual SLAM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Arial"/>
              </a:rPr>
              <a:t>Pose + local map</a:t>
            </a:r>
          </a:p>
        </p:txBody>
      </p:sp>
      <p:sp>
        <p:nvSpPr>
          <p:cNvPr id="17424" name="Rounded Rectangle 17423"/>
          <p:cNvSpPr/>
          <p:nvPr/>
        </p:nvSpPr>
        <p:spPr>
          <a:xfrm>
            <a:off x="384048" y="4672584"/>
            <a:ext cx="2706624" cy="4572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875">
            <a:solidFill>
              <a:srgbClr val="1F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5" name="TextBox 17424"/>
          <p:cNvSpPr txBox="1"/>
          <p:nvPr/>
        </p:nvSpPr>
        <p:spPr>
          <a:xfrm>
            <a:off x="457200" y="4681728"/>
            <a:ext cx="2606040" cy="45720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dirty="0">
                <a:solidFill>
                  <a:srgbClr val="1A1A1A"/>
                </a:solidFill>
                <a:latin typeface="Arial"/>
              </a:rPr>
              <a:t>07 | A* /</a:t>
            </a:r>
            <a:r>
              <a:rPr lang="en-IN" sz="1100" b="1" i="0" dirty="0">
                <a:solidFill>
                  <a:srgbClr val="1A1A1A"/>
                </a:solidFill>
                <a:latin typeface="Arial"/>
              </a:rPr>
              <a:t> </a:t>
            </a:r>
            <a:r>
              <a:rPr sz="1100" b="1" i="0" dirty="0">
                <a:solidFill>
                  <a:srgbClr val="1A1A1A"/>
                </a:solidFill>
                <a:latin typeface="Arial"/>
              </a:rPr>
              <a:t>Dijkstra planner</a:t>
            </a:r>
          </a:p>
          <a:p>
            <a:pPr algn="l">
              <a:spcAft>
                <a:spcPts val="0"/>
              </a:spcAft>
            </a:pPr>
            <a:r>
              <a:rPr sz="1100" b="0" i="0" dirty="0">
                <a:solidFill>
                  <a:srgbClr val="1A1A1A"/>
                </a:solidFill>
                <a:latin typeface="Arial"/>
              </a:rPr>
              <a:t>Global + local paths</a:t>
            </a:r>
          </a:p>
        </p:txBody>
      </p:sp>
      <p:sp>
        <p:nvSpPr>
          <p:cNvPr id="17426" name="Rounded Rectangle 17425"/>
          <p:cNvSpPr/>
          <p:nvPr/>
        </p:nvSpPr>
        <p:spPr>
          <a:xfrm>
            <a:off x="384048" y="5184648"/>
            <a:ext cx="2706624" cy="4572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875">
            <a:solidFill>
              <a:srgbClr val="1F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7" name="TextBox 17426"/>
          <p:cNvSpPr txBox="1"/>
          <p:nvPr/>
        </p:nvSpPr>
        <p:spPr>
          <a:xfrm>
            <a:off x="457200" y="5193792"/>
            <a:ext cx="2606040" cy="45720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A1A1A"/>
                </a:solidFill>
                <a:latin typeface="Arial"/>
              </a:rPr>
              <a:t>08 | Onboard edge computer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Arial"/>
              </a:rPr>
              <a:t>Runs the full stack</a:t>
            </a:r>
          </a:p>
        </p:txBody>
      </p:sp>
      <p:sp>
        <p:nvSpPr>
          <p:cNvPr id="17428" name="Rounded Rectangle 17427"/>
          <p:cNvSpPr/>
          <p:nvPr/>
        </p:nvSpPr>
        <p:spPr>
          <a:xfrm>
            <a:off x="384048" y="5696712"/>
            <a:ext cx="2706624" cy="4572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875">
            <a:solidFill>
              <a:srgbClr val="1F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9" name="TextBox 17428"/>
          <p:cNvSpPr txBox="1"/>
          <p:nvPr/>
        </p:nvSpPr>
        <p:spPr>
          <a:xfrm>
            <a:off x="457200" y="5705856"/>
            <a:ext cx="2606040" cy="45720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A1A1A"/>
                </a:solidFill>
                <a:latin typeface="Arial"/>
              </a:rPr>
              <a:t>09 | ESP32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Arial"/>
              </a:rPr>
              <a:t>Low-level motor control</a:t>
            </a:r>
          </a:p>
        </p:txBody>
      </p:sp>
      <p:sp>
        <p:nvSpPr>
          <p:cNvPr id="17430" name="Rounded Rectangle 17429"/>
          <p:cNvSpPr/>
          <p:nvPr/>
        </p:nvSpPr>
        <p:spPr>
          <a:xfrm>
            <a:off x="3429000" y="1371600"/>
            <a:ext cx="8503920" cy="2880360"/>
          </a:xfrm>
          <a:prstGeom prst="roundRect">
            <a:avLst>
              <a:gd name="adj" fmla="val 5000"/>
            </a:avLst>
          </a:prstGeom>
          <a:solidFill>
            <a:srgbClr val="FBF3EC"/>
          </a:solidFill>
          <a:ln w="19050">
            <a:solidFill>
              <a:srgbClr val="D96B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1" name="Rounded Rectangle 17430"/>
          <p:cNvSpPr/>
          <p:nvPr/>
        </p:nvSpPr>
        <p:spPr>
          <a:xfrm>
            <a:off x="3566160" y="1225296"/>
            <a:ext cx="4023360" cy="292608"/>
          </a:xfrm>
          <a:prstGeom prst="roundRect">
            <a:avLst>
              <a:gd name="adj" fmla="val 30000"/>
            </a:avLst>
          </a:prstGeom>
          <a:solidFill>
            <a:srgbClr val="D96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150" b="1" i="0">
                <a:solidFill>
                  <a:srgbClr val="FFFFFF"/>
                </a:solidFill>
                <a:latin typeface="Arial"/>
              </a:rPr>
              <a:t>METHODOLOGY: SYSTEM FLOW CHART</a:t>
            </a:r>
          </a:p>
        </p:txBody>
      </p:sp>
      <p:sp>
        <p:nvSpPr>
          <p:cNvPr id="17432" name="Rounded Rectangle 17431"/>
          <p:cNvSpPr/>
          <p:nvPr/>
        </p:nvSpPr>
        <p:spPr>
          <a:xfrm>
            <a:off x="3611880" y="1783080"/>
            <a:ext cx="1481328" cy="457200"/>
          </a:xfrm>
          <a:prstGeom prst="roundRect">
            <a:avLst>
              <a:gd name="adj" fmla="val 15000"/>
            </a:avLst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1 SENSE</a:t>
            </a:r>
          </a:p>
        </p:txBody>
      </p:sp>
      <p:sp>
        <p:nvSpPr>
          <p:cNvPr id="17433" name="Rounded Rectangle 17432"/>
          <p:cNvSpPr/>
          <p:nvPr/>
        </p:nvSpPr>
        <p:spPr>
          <a:xfrm>
            <a:off x="3611880" y="2286000"/>
            <a:ext cx="1481328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1F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4" name="TextBox 17433"/>
          <p:cNvSpPr txBox="1"/>
          <p:nvPr/>
        </p:nvSpPr>
        <p:spPr>
          <a:xfrm>
            <a:off x="3630168" y="2331720"/>
            <a:ext cx="1444752" cy="13258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marL="146304" indent="-146304" algn="l">
              <a:spcAft>
                <a:spcPts val="600"/>
              </a:spcAft>
              <a:buChar char="•"/>
            </a:pPr>
            <a:r>
              <a:rPr sz="1200" b="0" i="0" dirty="0">
                <a:solidFill>
                  <a:srgbClr val="1A1A1A"/>
                </a:solidFill>
                <a:latin typeface="Arial"/>
              </a:rPr>
              <a:t>RGB camera</a:t>
            </a:r>
          </a:p>
          <a:p>
            <a:pPr marL="146304" indent="-146304" algn="l">
              <a:spcAft>
                <a:spcPts val="600"/>
              </a:spcAft>
              <a:buChar char="•"/>
            </a:pPr>
            <a:r>
              <a:rPr sz="1200" b="0" i="0" dirty="0">
                <a:solidFill>
                  <a:srgbClr val="1A1A1A"/>
                </a:solidFill>
                <a:latin typeface="Arial"/>
              </a:rPr>
              <a:t>IMU</a:t>
            </a:r>
          </a:p>
        </p:txBody>
      </p:sp>
      <p:sp>
        <p:nvSpPr>
          <p:cNvPr id="17435" name="Right Arrow 17434"/>
          <p:cNvSpPr/>
          <p:nvPr/>
        </p:nvSpPr>
        <p:spPr>
          <a:xfrm>
            <a:off x="5111496" y="1883664"/>
            <a:ext cx="219456" cy="256032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6" name="Rounded Rectangle 17435"/>
          <p:cNvSpPr/>
          <p:nvPr/>
        </p:nvSpPr>
        <p:spPr>
          <a:xfrm>
            <a:off x="5349240" y="1783080"/>
            <a:ext cx="1481328" cy="457200"/>
          </a:xfrm>
          <a:prstGeom prst="roundRect">
            <a:avLst>
              <a:gd name="adj" fmla="val 15000"/>
            </a:avLst>
          </a:prstGeom>
          <a:solidFill>
            <a:srgbClr val="118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2 PERCEIVE</a:t>
            </a:r>
          </a:p>
        </p:txBody>
      </p:sp>
      <p:sp>
        <p:nvSpPr>
          <p:cNvPr id="17437" name="Rounded Rectangle 17436"/>
          <p:cNvSpPr/>
          <p:nvPr/>
        </p:nvSpPr>
        <p:spPr>
          <a:xfrm>
            <a:off x="5349240" y="2286000"/>
            <a:ext cx="1481328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118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8" name="TextBox 17437"/>
          <p:cNvSpPr txBox="1"/>
          <p:nvPr/>
        </p:nvSpPr>
        <p:spPr>
          <a:xfrm>
            <a:off x="5367528" y="2331720"/>
            <a:ext cx="1444752" cy="13258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marL="146304" indent="-146304" algn="l">
              <a:spcAft>
                <a:spcPts val="6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Arial"/>
              </a:rPr>
              <a:t>Lightweight AI</a:t>
            </a:r>
          </a:p>
          <a:p>
            <a:pPr marL="146304" indent="-146304" algn="l">
              <a:spcAft>
                <a:spcPts val="6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Arial"/>
              </a:rPr>
              <a:t>Traversable ground</a:t>
            </a:r>
          </a:p>
          <a:p>
            <a:pPr marL="146304" indent="-146304" algn="l">
              <a:spcAft>
                <a:spcPts val="6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Arial"/>
              </a:rPr>
              <a:t>Obstacles</a:t>
            </a:r>
          </a:p>
        </p:txBody>
      </p:sp>
      <p:sp>
        <p:nvSpPr>
          <p:cNvPr id="17439" name="Right Arrow 17438"/>
          <p:cNvSpPr/>
          <p:nvPr/>
        </p:nvSpPr>
        <p:spPr>
          <a:xfrm>
            <a:off x="6848856" y="1883664"/>
            <a:ext cx="219456" cy="256032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40" name="Rounded Rectangle 17439"/>
          <p:cNvSpPr/>
          <p:nvPr/>
        </p:nvSpPr>
        <p:spPr>
          <a:xfrm>
            <a:off x="7086600" y="1783080"/>
            <a:ext cx="1481328" cy="457200"/>
          </a:xfrm>
          <a:prstGeom prst="roundRect">
            <a:avLst>
              <a:gd name="adj" fmla="val 15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3 LOCALIZE</a:t>
            </a:r>
          </a:p>
        </p:txBody>
      </p:sp>
      <p:sp>
        <p:nvSpPr>
          <p:cNvPr id="17441" name="Rounded Rectangle 17440"/>
          <p:cNvSpPr/>
          <p:nvPr/>
        </p:nvSpPr>
        <p:spPr>
          <a:xfrm>
            <a:off x="7086600" y="2286000"/>
            <a:ext cx="1481328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42" name="TextBox 17441"/>
          <p:cNvSpPr txBox="1"/>
          <p:nvPr/>
        </p:nvSpPr>
        <p:spPr>
          <a:xfrm>
            <a:off x="7104888" y="2331720"/>
            <a:ext cx="1444752" cy="13258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marL="146304" indent="-146304" algn="l">
              <a:spcAft>
                <a:spcPts val="6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Arial"/>
              </a:rPr>
              <a:t>Visual odometry</a:t>
            </a:r>
          </a:p>
          <a:p>
            <a:pPr marL="146304" indent="-146304" algn="l">
              <a:spcAft>
                <a:spcPts val="6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Arial"/>
              </a:rPr>
              <a:t>Visual SLAM</a:t>
            </a:r>
          </a:p>
          <a:p>
            <a:pPr marL="146304" indent="-146304" algn="l">
              <a:spcAft>
                <a:spcPts val="6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Arial"/>
              </a:rPr>
              <a:t>Local map</a:t>
            </a:r>
          </a:p>
        </p:txBody>
      </p:sp>
      <p:sp>
        <p:nvSpPr>
          <p:cNvPr id="17443" name="Right Arrow 17442"/>
          <p:cNvSpPr/>
          <p:nvPr/>
        </p:nvSpPr>
        <p:spPr>
          <a:xfrm>
            <a:off x="8586216" y="1883664"/>
            <a:ext cx="219456" cy="256032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44" name="Rounded Rectangle 17443"/>
          <p:cNvSpPr/>
          <p:nvPr/>
        </p:nvSpPr>
        <p:spPr>
          <a:xfrm>
            <a:off x="8823960" y="1783080"/>
            <a:ext cx="1481328" cy="457200"/>
          </a:xfrm>
          <a:prstGeom prst="roundRect">
            <a:avLst>
              <a:gd name="adj" fmla="val 15000"/>
            </a:avLst>
          </a:prstGeom>
          <a:solidFill>
            <a:srgbClr val="D96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4 PLAN</a:t>
            </a:r>
          </a:p>
        </p:txBody>
      </p:sp>
      <p:sp>
        <p:nvSpPr>
          <p:cNvPr id="17445" name="Rounded Rectangle 17444"/>
          <p:cNvSpPr/>
          <p:nvPr/>
        </p:nvSpPr>
        <p:spPr>
          <a:xfrm>
            <a:off x="8823960" y="2286000"/>
            <a:ext cx="1481328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6B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46" name="TextBox 17445"/>
          <p:cNvSpPr txBox="1"/>
          <p:nvPr/>
        </p:nvSpPr>
        <p:spPr>
          <a:xfrm>
            <a:off x="8842248" y="2331720"/>
            <a:ext cx="1444752" cy="13258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marL="146304" indent="-146304" algn="l">
              <a:spcAft>
                <a:spcPts val="6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Arial"/>
              </a:rPr>
              <a:t>Global planner</a:t>
            </a:r>
          </a:p>
          <a:p>
            <a:pPr marL="146304" indent="-146304" algn="l">
              <a:spcAft>
                <a:spcPts val="6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Arial"/>
              </a:rPr>
              <a:t>Local replanning</a:t>
            </a:r>
          </a:p>
        </p:txBody>
      </p:sp>
      <p:sp>
        <p:nvSpPr>
          <p:cNvPr id="17447" name="Right Arrow 17446"/>
          <p:cNvSpPr/>
          <p:nvPr/>
        </p:nvSpPr>
        <p:spPr>
          <a:xfrm>
            <a:off x="10323576" y="1883664"/>
            <a:ext cx="219456" cy="256032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48" name="Rounded Rectangle 17447"/>
          <p:cNvSpPr/>
          <p:nvPr/>
        </p:nvSpPr>
        <p:spPr>
          <a:xfrm>
            <a:off x="10524744" y="1755648"/>
            <a:ext cx="1353312" cy="457200"/>
          </a:xfrm>
          <a:prstGeom prst="roundRect">
            <a:avLst>
              <a:gd name="adj" fmla="val 15000"/>
            </a:avLst>
          </a:prstGeom>
          <a:solidFill>
            <a:srgbClr val="6B4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5 ACT</a:t>
            </a:r>
          </a:p>
        </p:txBody>
      </p:sp>
      <p:sp>
        <p:nvSpPr>
          <p:cNvPr id="17449" name="Rounded Rectangle 17448"/>
          <p:cNvSpPr/>
          <p:nvPr/>
        </p:nvSpPr>
        <p:spPr>
          <a:xfrm>
            <a:off x="10436352" y="2295144"/>
            <a:ext cx="1481328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6B4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50" name="TextBox 17449"/>
          <p:cNvSpPr txBox="1"/>
          <p:nvPr/>
        </p:nvSpPr>
        <p:spPr>
          <a:xfrm>
            <a:off x="10433304" y="2448994"/>
            <a:ext cx="1444752" cy="13258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marL="146304" indent="-146304" algn="l">
              <a:spcAft>
                <a:spcPts val="600"/>
              </a:spcAft>
              <a:buChar char="•"/>
            </a:pPr>
            <a:r>
              <a:rPr sz="1200" b="0" i="0" dirty="0">
                <a:solidFill>
                  <a:srgbClr val="1A1A1A"/>
                </a:solidFill>
                <a:latin typeface="Arial"/>
              </a:rPr>
              <a:t>ESP32 controller</a:t>
            </a:r>
          </a:p>
          <a:p>
            <a:pPr marL="146304" indent="-146304" algn="l">
              <a:spcAft>
                <a:spcPts val="600"/>
              </a:spcAft>
              <a:buChar char="•"/>
            </a:pPr>
            <a:r>
              <a:rPr sz="1200" b="0" i="0" dirty="0">
                <a:solidFill>
                  <a:srgbClr val="1A1A1A"/>
                </a:solidFill>
                <a:latin typeface="Arial"/>
              </a:rPr>
              <a:t>Motor commands</a:t>
            </a:r>
          </a:p>
          <a:p>
            <a:pPr marL="146304" indent="-146304" algn="l">
              <a:spcAft>
                <a:spcPts val="600"/>
              </a:spcAft>
              <a:buChar char="•"/>
            </a:pPr>
            <a:r>
              <a:rPr sz="1200" b="0" i="0" dirty="0">
                <a:solidFill>
                  <a:srgbClr val="1A1A1A"/>
                </a:solidFill>
                <a:latin typeface="Arial"/>
              </a:rPr>
              <a:t>UGV moves</a:t>
            </a:r>
          </a:p>
        </p:txBody>
      </p:sp>
      <p:sp>
        <p:nvSpPr>
          <p:cNvPr id="17451" name="Rounded Rectangle 17450"/>
          <p:cNvSpPr/>
          <p:nvPr/>
        </p:nvSpPr>
        <p:spPr>
          <a:xfrm>
            <a:off x="3611880" y="3794760"/>
            <a:ext cx="8138160" cy="329184"/>
          </a:xfrm>
          <a:prstGeom prst="roundRect">
            <a:avLst>
              <a:gd name="adj" fmla="val 40000"/>
            </a:avLst>
          </a:prstGeom>
          <a:solidFill>
            <a:srgbClr val="F7E1CF"/>
          </a:solidFill>
          <a:ln w="12700">
            <a:solidFill>
              <a:srgbClr val="D96B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52" name="TextBox 17451"/>
          <p:cNvSpPr txBox="1"/>
          <p:nvPr/>
        </p:nvSpPr>
        <p:spPr>
          <a:xfrm>
            <a:off x="3611880" y="3794760"/>
            <a:ext cx="8138160" cy="329184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150" b="1" i="0">
                <a:solidFill>
                  <a:srgbClr val="1A1A1A"/>
                </a:solidFill>
                <a:latin typeface="Arial"/>
              </a:rPr>
              <a:t>Feedback loop: new camera frames update the map and the path continuously</a:t>
            </a:r>
          </a:p>
        </p:txBody>
      </p:sp>
      <p:sp>
        <p:nvSpPr>
          <p:cNvPr id="17453" name="Rounded Rectangle 17452"/>
          <p:cNvSpPr/>
          <p:nvPr/>
        </p:nvSpPr>
        <p:spPr>
          <a:xfrm>
            <a:off x="3429000" y="4480560"/>
            <a:ext cx="8503920" cy="1737360"/>
          </a:xfrm>
          <a:prstGeom prst="roundRect">
            <a:avLst>
              <a:gd name="adj" fmla="val 5000"/>
            </a:avLst>
          </a:prstGeom>
          <a:solidFill>
            <a:srgbClr val="EEF5F1"/>
          </a:solidFill>
          <a:ln w="1905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54" name="Rounded Rectangle 17453"/>
          <p:cNvSpPr/>
          <p:nvPr/>
        </p:nvSpPr>
        <p:spPr>
          <a:xfrm>
            <a:off x="3566160" y="4334256"/>
            <a:ext cx="2743200" cy="292608"/>
          </a:xfrm>
          <a:prstGeom prst="roundRect">
            <a:avLst>
              <a:gd name="adj" fmla="val 30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150" b="1" i="0">
                <a:solidFill>
                  <a:srgbClr val="FFFFFF"/>
                </a:solidFill>
                <a:latin typeface="Arial"/>
              </a:rPr>
              <a:t>IMPLEMENTATION PROCESS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C4BC754-5B6E-7740-4BCA-B71759597F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618" y="93436"/>
            <a:ext cx="1001847" cy="1001847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274320" y="1371600"/>
            <a:ext cx="11658600" cy="1600200"/>
          </a:xfrm>
          <a:prstGeom prst="roundRect">
            <a:avLst>
              <a:gd name="adj" fmla="val 5000"/>
            </a:avLst>
          </a:prstGeom>
          <a:solidFill>
            <a:srgbClr val="EDF2F8"/>
          </a:solidFill>
          <a:ln w="19050">
            <a:solidFill>
              <a:srgbClr val="1F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1" name="Rounded Rectangle 17410"/>
          <p:cNvSpPr/>
          <p:nvPr/>
        </p:nvSpPr>
        <p:spPr>
          <a:xfrm>
            <a:off x="411479" y="1225296"/>
            <a:ext cx="2926080" cy="292608"/>
          </a:xfrm>
          <a:prstGeom prst="roundRect">
            <a:avLst>
              <a:gd name="adj" fmla="val 30000"/>
            </a:avLst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150" b="1" i="0">
                <a:solidFill>
                  <a:srgbClr val="FFFFFF"/>
                </a:solidFill>
                <a:latin typeface="Arial"/>
              </a:rPr>
              <a:t>ANALYSIS OF FEASIBILITY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548640" y="1691640"/>
            <a:ext cx="1965960" cy="457200"/>
          </a:xfrm>
          <a:prstGeom prst="roundRect">
            <a:avLst>
              <a:gd name="adj" fmla="val 15000"/>
            </a:avLst>
          </a:prstGeom>
          <a:solidFill>
            <a:srgbClr val="118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150" b="1" i="0">
                <a:solidFill>
                  <a:srgbClr val="FFFFFF"/>
                </a:solidFill>
                <a:latin typeface="Arial"/>
              </a:rPr>
              <a:t>Public outdoor datasets</a:t>
            </a:r>
          </a:p>
        </p:txBody>
      </p:sp>
      <p:sp>
        <p:nvSpPr>
          <p:cNvPr id="17413" name="Right Arrow 17412"/>
          <p:cNvSpPr/>
          <p:nvPr/>
        </p:nvSpPr>
        <p:spPr>
          <a:xfrm>
            <a:off x="2569464" y="1792224"/>
            <a:ext cx="256032" cy="256032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4" name="Rounded Rectangle 17413"/>
          <p:cNvSpPr/>
          <p:nvPr/>
        </p:nvSpPr>
        <p:spPr>
          <a:xfrm>
            <a:off x="2880360" y="1691640"/>
            <a:ext cx="1965960" cy="457200"/>
          </a:xfrm>
          <a:prstGeom prst="roundRect">
            <a:avLst>
              <a:gd name="adj" fmla="val 15000"/>
            </a:avLst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150" b="1" i="0">
                <a:solidFill>
                  <a:srgbClr val="FFFFFF"/>
                </a:solidFill>
                <a:latin typeface="Arial"/>
              </a:rPr>
              <a:t>AI training</a:t>
            </a:r>
          </a:p>
        </p:txBody>
      </p:sp>
      <p:sp>
        <p:nvSpPr>
          <p:cNvPr id="17415" name="Right Arrow 17414"/>
          <p:cNvSpPr/>
          <p:nvPr/>
        </p:nvSpPr>
        <p:spPr>
          <a:xfrm>
            <a:off x="4901183" y="1792224"/>
            <a:ext cx="256032" cy="256032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6" name="Rounded Rectangle 17415"/>
          <p:cNvSpPr/>
          <p:nvPr/>
        </p:nvSpPr>
        <p:spPr>
          <a:xfrm>
            <a:off x="5212079" y="1691640"/>
            <a:ext cx="1965960" cy="457200"/>
          </a:xfrm>
          <a:prstGeom prst="roundRect">
            <a:avLst>
              <a:gd name="adj" fmla="val 15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150" b="1" i="0">
                <a:solidFill>
                  <a:srgbClr val="FFFFFF"/>
                </a:solidFill>
                <a:latin typeface="Arial"/>
              </a:rPr>
              <a:t>Simulation</a:t>
            </a:r>
          </a:p>
        </p:txBody>
      </p:sp>
      <p:sp>
        <p:nvSpPr>
          <p:cNvPr id="17417" name="Right Arrow 17416"/>
          <p:cNvSpPr/>
          <p:nvPr/>
        </p:nvSpPr>
        <p:spPr>
          <a:xfrm>
            <a:off x="7232903" y="1792224"/>
            <a:ext cx="256032" cy="256032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8" name="Rounded Rectangle 17417"/>
          <p:cNvSpPr/>
          <p:nvPr/>
        </p:nvSpPr>
        <p:spPr>
          <a:xfrm>
            <a:off x="7543800" y="1691640"/>
            <a:ext cx="1965960" cy="457200"/>
          </a:xfrm>
          <a:prstGeom prst="roundRect">
            <a:avLst>
              <a:gd name="adj" fmla="val 15000"/>
            </a:avLst>
          </a:prstGeom>
          <a:solidFill>
            <a:srgbClr val="D96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150" b="1" i="0">
                <a:solidFill>
                  <a:srgbClr val="FFFFFF"/>
                </a:solidFill>
                <a:latin typeface="Arial"/>
              </a:rPr>
              <a:t>Software validation</a:t>
            </a:r>
          </a:p>
        </p:txBody>
      </p:sp>
      <p:sp>
        <p:nvSpPr>
          <p:cNvPr id="17419" name="Right Arrow 17418"/>
          <p:cNvSpPr/>
          <p:nvPr/>
        </p:nvSpPr>
        <p:spPr>
          <a:xfrm>
            <a:off x="9564624" y="1792224"/>
            <a:ext cx="256032" cy="256032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0" name="Rounded Rectangle 17419"/>
          <p:cNvSpPr/>
          <p:nvPr/>
        </p:nvSpPr>
        <p:spPr>
          <a:xfrm>
            <a:off x="9875519" y="1691640"/>
            <a:ext cx="1965960" cy="457200"/>
          </a:xfrm>
          <a:prstGeom prst="roundRect">
            <a:avLst>
              <a:gd name="adj" fmla="val 15000"/>
            </a:avLst>
          </a:prstGeom>
          <a:solidFill>
            <a:srgbClr val="6B4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150" b="1" i="0">
                <a:solidFill>
                  <a:srgbClr val="FFFFFF"/>
                </a:solidFill>
                <a:latin typeface="Arial"/>
              </a:rPr>
              <a:t>Low-cost UGV prototype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457200" y="2286000"/>
            <a:ext cx="11338560" cy="6400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marL="146304" indent="-146304" algn="l">
              <a:spcAft>
                <a:spcPts val="300"/>
              </a:spcAft>
              <a:buChar char="•"/>
            </a:pPr>
            <a:r>
              <a:rPr sz="1250" b="1" i="0">
                <a:solidFill>
                  <a:srgbClr val="1A1A1A"/>
                </a:solidFill>
                <a:latin typeface="Arial"/>
              </a:rPr>
              <a:t>Software-first: </a:t>
            </a:r>
            <a:r>
              <a:rPr sz="1250" b="0" i="0">
                <a:solidFill>
                  <a:srgbClr val="1A1A1A"/>
                </a:solidFill>
                <a:latin typeface="Arial"/>
              </a:rPr>
              <a:t>the perception and navigation stack is proven in software before any hardware risk is taken</a:t>
            </a:r>
          </a:p>
          <a:p>
            <a:pPr marL="146304" indent="-146304" algn="l">
              <a:spcAft>
                <a:spcPts val="300"/>
              </a:spcAft>
              <a:buChar char="•"/>
            </a:pPr>
            <a:r>
              <a:rPr sz="1250" b="1" i="0">
                <a:solidFill>
                  <a:srgbClr val="1A1A1A"/>
                </a:solidFill>
                <a:latin typeface="Arial"/>
              </a:rPr>
              <a:t>Accessible parts: </a:t>
            </a:r>
            <a:r>
              <a:rPr sz="1250" b="0" i="0">
                <a:solidFill>
                  <a:srgbClr val="1A1A1A"/>
                </a:solidFill>
                <a:latin typeface="Arial"/>
              </a:rPr>
              <a:t>camera, IMU, edge computer and ESP32 are all commodity, low-cost components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274320" y="3200400"/>
            <a:ext cx="11658600" cy="3063240"/>
          </a:xfrm>
          <a:prstGeom prst="roundRect">
            <a:avLst>
              <a:gd name="adj" fmla="val 5000"/>
            </a:avLst>
          </a:prstGeom>
          <a:solidFill>
            <a:srgbClr val="FBF5F4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3" name="Rounded Rectangle 17422"/>
          <p:cNvSpPr/>
          <p:nvPr/>
        </p:nvSpPr>
        <p:spPr>
          <a:xfrm>
            <a:off x="411479" y="3054096"/>
            <a:ext cx="6949440" cy="292608"/>
          </a:xfrm>
          <a:prstGeom prst="roundRect">
            <a:avLst>
              <a:gd name="adj" fmla="val 30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150" b="1" i="0">
                <a:solidFill>
                  <a:srgbClr val="FFFFFF"/>
                </a:solidFill>
                <a:latin typeface="Arial"/>
              </a:rPr>
              <a:t>POTENTIAL CHALLENGES AND RISKS  →  STRATEGIES TO OVERCOME</a:t>
            </a:r>
          </a:p>
        </p:txBody>
      </p:sp>
      <p:sp>
        <p:nvSpPr>
          <p:cNvPr id="17424" name="Rounded Rectangle 17423"/>
          <p:cNvSpPr/>
          <p:nvPr/>
        </p:nvSpPr>
        <p:spPr>
          <a:xfrm>
            <a:off x="457200" y="3520440"/>
            <a:ext cx="5394960" cy="38404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5" name="TextBox 17424"/>
          <p:cNvSpPr txBox="1"/>
          <p:nvPr/>
        </p:nvSpPr>
        <p:spPr>
          <a:xfrm>
            <a:off x="548640" y="3520440"/>
            <a:ext cx="5212080" cy="384048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1A1A1A"/>
                </a:solidFill>
                <a:latin typeface="Arial"/>
              </a:rPr>
              <a:t>Changing illumination</a:t>
            </a:r>
          </a:p>
        </p:txBody>
      </p:sp>
      <p:sp>
        <p:nvSpPr>
          <p:cNvPr id="17426" name="Right Arrow 17425"/>
          <p:cNvSpPr/>
          <p:nvPr/>
        </p:nvSpPr>
        <p:spPr>
          <a:xfrm>
            <a:off x="5989320" y="3584448"/>
            <a:ext cx="365760" cy="256032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7" name="Rounded Rectangle 17426"/>
          <p:cNvSpPr/>
          <p:nvPr/>
        </p:nvSpPr>
        <p:spPr>
          <a:xfrm>
            <a:off x="6492240" y="3520440"/>
            <a:ext cx="5257800" cy="38404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8" name="TextBox 17427"/>
          <p:cNvSpPr txBox="1"/>
          <p:nvPr/>
        </p:nvSpPr>
        <p:spPr>
          <a:xfrm>
            <a:off x="6583680" y="3520440"/>
            <a:ext cx="5074920" cy="384048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1A1A1A"/>
                </a:solidFill>
                <a:latin typeface="Arial"/>
              </a:rPr>
              <a:t>Diverse training data</a:t>
            </a:r>
          </a:p>
        </p:txBody>
      </p:sp>
      <p:sp>
        <p:nvSpPr>
          <p:cNvPr id="17429" name="Rounded Rectangle 17428"/>
          <p:cNvSpPr/>
          <p:nvPr/>
        </p:nvSpPr>
        <p:spPr>
          <a:xfrm>
            <a:off x="457200" y="3968496"/>
            <a:ext cx="5394960" cy="38404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0" name="TextBox 17429"/>
          <p:cNvSpPr txBox="1"/>
          <p:nvPr/>
        </p:nvSpPr>
        <p:spPr>
          <a:xfrm>
            <a:off x="548640" y="3968496"/>
            <a:ext cx="5212080" cy="384048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1A1A1A"/>
                </a:solidFill>
                <a:latin typeface="Arial"/>
              </a:rPr>
              <a:t>Unseen terrain</a:t>
            </a:r>
          </a:p>
        </p:txBody>
      </p:sp>
      <p:sp>
        <p:nvSpPr>
          <p:cNvPr id="17431" name="Right Arrow 17430"/>
          <p:cNvSpPr/>
          <p:nvPr/>
        </p:nvSpPr>
        <p:spPr>
          <a:xfrm>
            <a:off x="5989320" y="4032504"/>
            <a:ext cx="365760" cy="256032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2" name="Rounded Rectangle 17431"/>
          <p:cNvSpPr/>
          <p:nvPr/>
        </p:nvSpPr>
        <p:spPr>
          <a:xfrm>
            <a:off x="6492240" y="3968496"/>
            <a:ext cx="5257800" cy="38404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3" name="TextBox 17432"/>
          <p:cNvSpPr txBox="1"/>
          <p:nvPr/>
        </p:nvSpPr>
        <p:spPr>
          <a:xfrm>
            <a:off x="6583680" y="3968496"/>
            <a:ext cx="5074920" cy="384048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1A1A1A"/>
                </a:solidFill>
                <a:latin typeface="Arial"/>
              </a:rPr>
              <a:t>Testing on unseen environments</a:t>
            </a:r>
          </a:p>
        </p:txBody>
      </p:sp>
      <p:sp>
        <p:nvSpPr>
          <p:cNvPr id="17434" name="Rounded Rectangle 17433"/>
          <p:cNvSpPr/>
          <p:nvPr/>
        </p:nvSpPr>
        <p:spPr>
          <a:xfrm>
            <a:off x="457200" y="4416552"/>
            <a:ext cx="5394960" cy="38404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5" name="TextBox 17434"/>
          <p:cNvSpPr txBox="1"/>
          <p:nvPr/>
        </p:nvSpPr>
        <p:spPr>
          <a:xfrm>
            <a:off x="548640" y="4416552"/>
            <a:ext cx="5212080" cy="384048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1A1A1A"/>
                </a:solidFill>
                <a:latin typeface="Arial"/>
              </a:rPr>
              <a:t>Limited computing resources / real-time inference</a:t>
            </a:r>
          </a:p>
        </p:txBody>
      </p:sp>
      <p:sp>
        <p:nvSpPr>
          <p:cNvPr id="17436" name="Right Arrow 17435"/>
          <p:cNvSpPr/>
          <p:nvPr/>
        </p:nvSpPr>
        <p:spPr>
          <a:xfrm>
            <a:off x="5989320" y="4480560"/>
            <a:ext cx="365760" cy="256032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7" name="Rounded Rectangle 17436"/>
          <p:cNvSpPr/>
          <p:nvPr/>
        </p:nvSpPr>
        <p:spPr>
          <a:xfrm>
            <a:off x="6492240" y="4416552"/>
            <a:ext cx="5257800" cy="38404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8" name="TextBox 17437"/>
          <p:cNvSpPr txBox="1"/>
          <p:nvPr/>
        </p:nvSpPr>
        <p:spPr>
          <a:xfrm>
            <a:off x="6583680" y="4416552"/>
            <a:ext cx="5074920" cy="384048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1A1A1A"/>
                </a:solidFill>
                <a:latin typeface="Arial"/>
              </a:rPr>
              <a:t>Lightweight model optimization</a:t>
            </a:r>
          </a:p>
        </p:txBody>
      </p:sp>
      <p:sp>
        <p:nvSpPr>
          <p:cNvPr id="17439" name="Rounded Rectangle 17438"/>
          <p:cNvSpPr/>
          <p:nvPr/>
        </p:nvSpPr>
        <p:spPr>
          <a:xfrm>
            <a:off x="457200" y="4864608"/>
            <a:ext cx="5394960" cy="38404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40" name="TextBox 17439"/>
          <p:cNvSpPr txBox="1"/>
          <p:nvPr/>
        </p:nvSpPr>
        <p:spPr>
          <a:xfrm>
            <a:off x="548640" y="4864608"/>
            <a:ext cx="5212080" cy="384048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1A1A1A"/>
                </a:solidFill>
                <a:latin typeface="Arial"/>
              </a:rPr>
              <a:t>GPS-denied operation, visual localization drift</a:t>
            </a:r>
          </a:p>
        </p:txBody>
      </p:sp>
      <p:sp>
        <p:nvSpPr>
          <p:cNvPr id="17441" name="Right Arrow 17440"/>
          <p:cNvSpPr/>
          <p:nvPr/>
        </p:nvSpPr>
        <p:spPr>
          <a:xfrm>
            <a:off x="5989320" y="4928616"/>
            <a:ext cx="365760" cy="256032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42" name="Rounded Rectangle 17441"/>
          <p:cNvSpPr/>
          <p:nvPr/>
        </p:nvSpPr>
        <p:spPr>
          <a:xfrm>
            <a:off x="6492240" y="4864608"/>
            <a:ext cx="5257800" cy="38404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43" name="TextBox 17442"/>
          <p:cNvSpPr txBox="1"/>
          <p:nvPr/>
        </p:nvSpPr>
        <p:spPr>
          <a:xfrm>
            <a:off x="6583680" y="4864608"/>
            <a:ext cx="5074920" cy="384048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1A1A1A"/>
                </a:solidFill>
                <a:latin typeface="Arial"/>
              </a:rPr>
              <a:t>Visual-inertial fusion (camera + IMU)</a:t>
            </a:r>
          </a:p>
        </p:txBody>
      </p:sp>
      <p:sp>
        <p:nvSpPr>
          <p:cNvPr id="17444" name="Rounded Rectangle 17443"/>
          <p:cNvSpPr/>
          <p:nvPr/>
        </p:nvSpPr>
        <p:spPr>
          <a:xfrm>
            <a:off x="457200" y="5312664"/>
            <a:ext cx="5394960" cy="38404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45" name="TextBox 17444"/>
          <p:cNvSpPr txBox="1"/>
          <p:nvPr/>
        </p:nvSpPr>
        <p:spPr>
          <a:xfrm>
            <a:off x="548640" y="5312664"/>
            <a:ext cx="5212080" cy="384048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1A1A1A"/>
                </a:solidFill>
                <a:latin typeface="Arial"/>
              </a:rPr>
              <a:t>Dynamic obstacles</a:t>
            </a:r>
          </a:p>
        </p:txBody>
      </p:sp>
      <p:sp>
        <p:nvSpPr>
          <p:cNvPr id="17446" name="Right Arrow 17445"/>
          <p:cNvSpPr/>
          <p:nvPr/>
        </p:nvSpPr>
        <p:spPr>
          <a:xfrm>
            <a:off x="5989320" y="5376672"/>
            <a:ext cx="365760" cy="256032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47" name="Rounded Rectangle 17446"/>
          <p:cNvSpPr/>
          <p:nvPr/>
        </p:nvSpPr>
        <p:spPr>
          <a:xfrm>
            <a:off x="6492240" y="5312664"/>
            <a:ext cx="5257800" cy="38404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48" name="TextBox 17447"/>
          <p:cNvSpPr txBox="1"/>
          <p:nvPr/>
        </p:nvSpPr>
        <p:spPr>
          <a:xfrm>
            <a:off x="6583680" y="5312664"/>
            <a:ext cx="5074920" cy="384048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1A1A1A"/>
                </a:solidFill>
                <a:latin typeface="Arial"/>
              </a:rPr>
              <a:t>Local dynamic replanning</a:t>
            </a:r>
          </a:p>
        </p:txBody>
      </p:sp>
      <p:sp>
        <p:nvSpPr>
          <p:cNvPr id="17449" name="Rounded Rectangle 17448"/>
          <p:cNvSpPr/>
          <p:nvPr/>
        </p:nvSpPr>
        <p:spPr>
          <a:xfrm>
            <a:off x="457200" y="5760720"/>
            <a:ext cx="5394960" cy="38404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50" name="TextBox 17449"/>
          <p:cNvSpPr txBox="1"/>
          <p:nvPr/>
        </p:nvSpPr>
        <p:spPr>
          <a:xfrm>
            <a:off x="548640" y="5760720"/>
            <a:ext cx="5212080" cy="384048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1A1A1A"/>
                </a:solidFill>
                <a:latin typeface="Arial"/>
              </a:rPr>
              <a:t>Risk in physical trials</a:t>
            </a:r>
          </a:p>
        </p:txBody>
      </p:sp>
      <p:sp>
        <p:nvSpPr>
          <p:cNvPr id="17451" name="Right Arrow 17450"/>
          <p:cNvSpPr/>
          <p:nvPr/>
        </p:nvSpPr>
        <p:spPr>
          <a:xfrm>
            <a:off x="5989320" y="5824728"/>
            <a:ext cx="365760" cy="256032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52" name="Rounded Rectangle 17451"/>
          <p:cNvSpPr/>
          <p:nvPr/>
        </p:nvSpPr>
        <p:spPr>
          <a:xfrm>
            <a:off x="6492240" y="5760720"/>
            <a:ext cx="5257800" cy="38404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53" name="TextBox 17452"/>
          <p:cNvSpPr txBox="1"/>
          <p:nvPr/>
        </p:nvSpPr>
        <p:spPr>
          <a:xfrm>
            <a:off x="6583680" y="5760720"/>
            <a:ext cx="5074920" cy="384048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1A1A1A"/>
                </a:solidFill>
                <a:latin typeface="Arial"/>
              </a:rPr>
              <a:t>Simulation before physical deployment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681E7FC-AFAD-6FAE-B9C9-15A8FCB69A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618" y="93436"/>
            <a:ext cx="1001847" cy="1001847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274320" y="1371600"/>
            <a:ext cx="11658600" cy="2514600"/>
          </a:xfrm>
          <a:prstGeom prst="roundRect">
            <a:avLst>
              <a:gd name="adj" fmla="val 5000"/>
            </a:avLst>
          </a:prstGeom>
          <a:solidFill>
            <a:srgbClr val="EDF2F8"/>
          </a:solidFill>
          <a:ln w="19050">
            <a:solidFill>
              <a:srgbClr val="1F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1" name="Rounded Rectangle 17410"/>
          <p:cNvSpPr/>
          <p:nvPr/>
        </p:nvSpPr>
        <p:spPr>
          <a:xfrm>
            <a:off x="411479" y="1225296"/>
            <a:ext cx="4206240" cy="292608"/>
          </a:xfrm>
          <a:prstGeom prst="roundRect">
            <a:avLst>
              <a:gd name="adj" fmla="val 30000"/>
            </a:avLst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150" b="1" i="0">
                <a:solidFill>
                  <a:srgbClr val="FFFFFF"/>
                </a:solidFill>
                <a:latin typeface="Arial"/>
              </a:rPr>
              <a:t>POTENTIAL IMPACT ON THE TARGET AUDIENCE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4480560" y="1645920"/>
            <a:ext cx="3200400" cy="457200"/>
          </a:xfrm>
          <a:prstGeom prst="roundRect">
            <a:avLst>
              <a:gd name="adj" fmla="val 15000"/>
            </a:avLst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AUTONOMOUS UGV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6080760" y="2121408"/>
            <a:ext cx="18288" cy="9144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4" name="Down Arrow 17413"/>
          <p:cNvSpPr/>
          <p:nvPr/>
        </p:nvSpPr>
        <p:spPr>
          <a:xfrm>
            <a:off x="2148840" y="2176272"/>
            <a:ext cx="228600" cy="274320"/>
          </a:xfrm>
          <a:prstGeom prst="down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5" name="Rounded Rectangle 17414"/>
          <p:cNvSpPr/>
          <p:nvPr/>
        </p:nvSpPr>
        <p:spPr>
          <a:xfrm>
            <a:off x="502920" y="2468880"/>
            <a:ext cx="3520440" cy="384048"/>
          </a:xfrm>
          <a:prstGeom prst="roundRect">
            <a:avLst>
              <a:gd name="adj" fmla="val 15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SEARCH &amp; RESCUE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502920" y="2880360"/>
            <a:ext cx="352044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7" name="TextBox 17416"/>
          <p:cNvSpPr txBox="1"/>
          <p:nvPr/>
        </p:nvSpPr>
        <p:spPr>
          <a:xfrm>
            <a:off x="548640" y="2926080"/>
            <a:ext cx="3429000" cy="77724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1A1A1A"/>
                </a:solidFill>
                <a:latin typeface="Arial"/>
              </a:rPr>
              <a:t>GPS-denied environments</a:t>
            </a:r>
          </a:p>
          <a:p>
            <a:pPr algn="ctr">
              <a:spcAft>
                <a:spcPts val="200"/>
              </a:spcAft>
            </a:pPr>
            <a:r>
              <a:rPr sz="1300" b="0" i="0">
                <a:solidFill>
                  <a:srgbClr val="1A1A1A"/>
                </a:solidFill>
                <a:latin typeface="Arial"/>
              </a:rPr>
              <a:t>Keeps responders out of hazardous ground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6080760" y="2121408"/>
            <a:ext cx="18288" cy="9144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9" name="Down Arrow 17418"/>
          <p:cNvSpPr/>
          <p:nvPr/>
        </p:nvSpPr>
        <p:spPr>
          <a:xfrm>
            <a:off x="5989320" y="2176272"/>
            <a:ext cx="228600" cy="274320"/>
          </a:xfrm>
          <a:prstGeom prst="down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0" name="Rounded Rectangle 17419"/>
          <p:cNvSpPr/>
          <p:nvPr/>
        </p:nvSpPr>
        <p:spPr>
          <a:xfrm>
            <a:off x="4343400" y="2468880"/>
            <a:ext cx="3520440" cy="384048"/>
          </a:xfrm>
          <a:prstGeom prst="roundRect">
            <a:avLst>
              <a:gd name="adj" fmla="val 15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AGRICULTURE</a:t>
            </a:r>
          </a:p>
        </p:txBody>
      </p:sp>
      <p:sp>
        <p:nvSpPr>
          <p:cNvPr id="17421" name="Rounded Rectangle 17420"/>
          <p:cNvSpPr/>
          <p:nvPr/>
        </p:nvSpPr>
        <p:spPr>
          <a:xfrm>
            <a:off x="4343400" y="2880360"/>
            <a:ext cx="352044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2" name="TextBox 17421"/>
          <p:cNvSpPr txBox="1"/>
          <p:nvPr/>
        </p:nvSpPr>
        <p:spPr>
          <a:xfrm>
            <a:off x="4389120" y="2926080"/>
            <a:ext cx="3429000" cy="77724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1A1A1A"/>
                </a:solidFill>
                <a:latin typeface="Arial"/>
              </a:rPr>
              <a:t>Unstructured terrain</a:t>
            </a:r>
          </a:p>
          <a:p>
            <a:pPr algn="ctr">
              <a:spcAft>
                <a:spcPts val="200"/>
              </a:spcAft>
            </a:pPr>
            <a:r>
              <a:rPr sz="1300" b="0" i="0">
                <a:solidFill>
                  <a:srgbClr val="1A1A1A"/>
                </a:solidFill>
                <a:latin typeface="Arial"/>
              </a:rPr>
              <a:t>Navigates farm land with no fixed lanes</a:t>
            </a:r>
          </a:p>
        </p:txBody>
      </p:sp>
      <p:sp>
        <p:nvSpPr>
          <p:cNvPr id="17423" name="Rounded Rectangle 17422"/>
          <p:cNvSpPr/>
          <p:nvPr/>
        </p:nvSpPr>
        <p:spPr>
          <a:xfrm>
            <a:off x="6080760" y="2121408"/>
            <a:ext cx="18288" cy="9144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4" name="Down Arrow 17423"/>
          <p:cNvSpPr/>
          <p:nvPr/>
        </p:nvSpPr>
        <p:spPr>
          <a:xfrm>
            <a:off x="9829800" y="2176272"/>
            <a:ext cx="228600" cy="274320"/>
          </a:xfrm>
          <a:prstGeom prst="down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5" name="Rounded Rectangle 17424"/>
          <p:cNvSpPr/>
          <p:nvPr/>
        </p:nvSpPr>
        <p:spPr>
          <a:xfrm>
            <a:off x="8183880" y="2468880"/>
            <a:ext cx="3520440" cy="384048"/>
          </a:xfrm>
          <a:prstGeom prst="roundRect">
            <a:avLst>
              <a:gd name="adj" fmla="val 15000"/>
            </a:avLst>
          </a:prstGeom>
          <a:solidFill>
            <a:srgbClr val="D96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DELIVERY</a:t>
            </a:r>
          </a:p>
        </p:txBody>
      </p:sp>
      <p:sp>
        <p:nvSpPr>
          <p:cNvPr id="17426" name="Rounded Rectangle 17425"/>
          <p:cNvSpPr/>
          <p:nvPr/>
        </p:nvSpPr>
        <p:spPr>
          <a:xfrm>
            <a:off x="8183880" y="2880360"/>
            <a:ext cx="352044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96B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7" name="TextBox 17426"/>
          <p:cNvSpPr txBox="1"/>
          <p:nvPr/>
        </p:nvSpPr>
        <p:spPr>
          <a:xfrm>
            <a:off x="8229600" y="2926080"/>
            <a:ext cx="3429000" cy="77724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1A1A1A"/>
                </a:solidFill>
                <a:latin typeface="Arial"/>
              </a:rPr>
              <a:t>Outdoor environments</a:t>
            </a:r>
          </a:p>
          <a:p>
            <a:pPr algn="ctr">
              <a:spcAft>
                <a:spcPts val="200"/>
              </a:spcAft>
            </a:pPr>
            <a:r>
              <a:rPr sz="1300" b="0" i="0">
                <a:solidFill>
                  <a:srgbClr val="1A1A1A"/>
                </a:solidFill>
                <a:latin typeface="Arial"/>
              </a:rPr>
              <a:t>Moves goods over paths without GPS</a:t>
            </a:r>
          </a:p>
        </p:txBody>
      </p:sp>
      <p:sp>
        <p:nvSpPr>
          <p:cNvPr id="17428" name="Rounded Rectangle 17427"/>
          <p:cNvSpPr/>
          <p:nvPr/>
        </p:nvSpPr>
        <p:spPr>
          <a:xfrm>
            <a:off x="274320" y="4160520"/>
            <a:ext cx="11658600" cy="2103120"/>
          </a:xfrm>
          <a:prstGeom prst="roundRect">
            <a:avLst>
              <a:gd name="adj" fmla="val 5000"/>
            </a:avLst>
          </a:prstGeom>
          <a:solidFill>
            <a:srgbClr val="EEF5F1"/>
          </a:solidFill>
          <a:ln w="1905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9" name="Rounded Rectangle 17428"/>
          <p:cNvSpPr/>
          <p:nvPr/>
        </p:nvSpPr>
        <p:spPr>
          <a:xfrm>
            <a:off x="411479" y="4014215"/>
            <a:ext cx="2926080" cy="292608"/>
          </a:xfrm>
          <a:prstGeom prst="roundRect">
            <a:avLst>
              <a:gd name="adj" fmla="val 30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150" b="1" i="0">
                <a:solidFill>
                  <a:srgbClr val="FFFFFF"/>
                </a:solidFill>
                <a:latin typeface="Arial"/>
              </a:rPr>
              <a:t>BENEFITS OF THE SOLUTION</a:t>
            </a:r>
          </a:p>
        </p:txBody>
      </p:sp>
      <p:sp>
        <p:nvSpPr>
          <p:cNvPr id="17430" name="Rounded Rectangle 17429"/>
          <p:cNvSpPr/>
          <p:nvPr/>
        </p:nvSpPr>
        <p:spPr>
          <a:xfrm>
            <a:off x="457200" y="4526280"/>
            <a:ext cx="2148840" cy="365760"/>
          </a:xfrm>
          <a:prstGeom prst="roundRect">
            <a:avLst>
              <a:gd name="adj" fmla="val 15000"/>
            </a:avLst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OPERATIONAL</a:t>
            </a:r>
          </a:p>
        </p:txBody>
      </p:sp>
      <p:sp>
        <p:nvSpPr>
          <p:cNvPr id="17431" name="Rounded Rectangle 17430"/>
          <p:cNvSpPr/>
          <p:nvPr/>
        </p:nvSpPr>
        <p:spPr>
          <a:xfrm>
            <a:off x="457200" y="4937760"/>
            <a:ext cx="214884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F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2" name="TextBox 17431"/>
          <p:cNvSpPr txBox="1"/>
          <p:nvPr/>
        </p:nvSpPr>
        <p:spPr>
          <a:xfrm>
            <a:off x="484632" y="4965192"/>
            <a:ext cx="2093976" cy="1042415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1A1A1A"/>
                </a:solidFill>
                <a:latin typeface="Arial"/>
              </a:rPr>
              <a:t>Reduced dependence on GPS</a:t>
            </a:r>
          </a:p>
        </p:txBody>
      </p:sp>
      <p:sp>
        <p:nvSpPr>
          <p:cNvPr id="17433" name="Rounded Rectangle 17432"/>
          <p:cNvSpPr/>
          <p:nvPr/>
        </p:nvSpPr>
        <p:spPr>
          <a:xfrm>
            <a:off x="2724912" y="4526280"/>
            <a:ext cx="2148840" cy="365760"/>
          </a:xfrm>
          <a:prstGeom prst="roundRect">
            <a:avLst>
              <a:gd name="adj" fmla="val 15000"/>
            </a:avLst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OPERATIONAL</a:t>
            </a:r>
          </a:p>
        </p:txBody>
      </p:sp>
      <p:sp>
        <p:nvSpPr>
          <p:cNvPr id="17434" name="Rounded Rectangle 17433"/>
          <p:cNvSpPr/>
          <p:nvPr/>
        </p:nvSpPr>
        <p:spPr>
          <a:xfrm>
            <a:off x="2724912" y="4937760"/>
            <a:ext cx="214884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F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5" name="TextBox 17434"/>
          <p:cNvSpPr txBox="1"/>
          <p:nvPr/>
        </p:nvSpPr>
        <p:spPr>
          <a:xfrm>
            <a:off x="2752344" y="4965192"/>
            <a:ext cx="2093976" cy="1042415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1A1A1A"/>
                </a:solidFill>
                <a:latin typeface="Arial"/>
              </a:rPr>
              <a:t>Autonomous operation in unstructured terrain</a:t>
            </a:r>
          </a:p>
        </p:txBody>
      </p:sp>
      <p:sp>
        <p:nvSpPr>
          <p:cNvPr id="17436" name="Rounded Rectangle 17435"/>
          <p:cNvSpPr/>
          <p:nvPr/>
        </p:nvSpPr>
        <p:spPr>
          <a:xfrm>
            <a:off x="4992624" y="4526280"/>
            <a:ext cx="2148840" cy="365760"/>
          </a:xfrm>
          <a:prstGeom prst="roundRect">
            <a:avLst>
              <a:gd name="adj" fmla="val 15000"/>
            </a:avLst>
          </a:prstGeom>
          <a:solidFill>
            <a:srgbClr val="D96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ECONOMIC</a:t>
            </a:r>
          </a:p>
        </p:txBody>
      </p:sp>
      <p:sp>
        <p:nvSpPr>
          <p:cNvPr id="17437" name="Rounded Rectangle 17436"/>
          <p:cNvSpPr/>
          <p:nvPr/>
        </p:nvSpPr>
        <p:spPr>
          <a:xfrm>
            <a:off x="4992624" y="4937760"/>
            <a:ext cx="214884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96B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8" name="TextBox 17437"/>
          <p:cNvSpPr txBox="1"/>
          <p:nvPr/>
        </p:nvSpPr>
        <p:spPr>
          <a:xfrm>
            <a:off x="5020056" y="4965192"/>
            <a:ext cx="2093976" cy="1042415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1A1A1A"/>
                </a:solidFill>
                <a:latin typeface="Arial"/>
              </a:rPr>
              <a:t>Lower-cost, vision-first navigation</a:t>
            </a:r>
          </a:p>
        </p:txBody>
      </p:sp>
      <p:sp>
        <p:nvSpPr>
          <p:cNvPr id="17439" name="Rounded Rectangle 17438"/>
          <p:cNvSpPr/>
          <p:nvPr/>
        </p:nvSpPr>
        <p:spPr>
          <a:xfrm>
            <a:off x="7260336" y="4526280"/>
            <a:ext cx="2148840" cy="365760"/>
          </a:xfrm>
          <a:prstGeom prst="roundRect">
            <a:avLst>
              <a:gd name="adj" fmla="val 15000"/>
            </a:avLst>
          </a:prstGeom>
          <a:solidFill>
            <a:srgbClr val="D96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ECONOMIC</a:t>
            </a:r>
          </a:p>
        </p:txBody>
      </p:sp>
      <p:sp>
        <p:nvSpPr>
          <p:cNvPr id="17440" name="Rounded Rectangle 17439"/>
          <p:cNvSpPr/>
          <p:nvPr/>
        </p:nvSpPr>
        <p:spPr>
          <a:xfrm>
            <a:off x="7260336" y="4937760"/>
            <a:ext cx="214884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96B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41" name="TextBox 17440"/>
          <p:cNvSpPr txBox="1"/>
          <p:nvPr/>
        </p:nvSpPr>
        <p:spPr>
          <a:xfrm>
            <a:off x="7287768" y="4965192"/>
            <a:ext cx="2093976" cy="1042415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1A1A1A"/>
                </a:solidFill>
                <a:latin typeface="Arial"/>
              </a:rPr>
              <a:t>Deployable on different UGV platforms</a:t>
            </a:r>
          </a:p>
        </p:txBody>
      </p:sp>
      <p:sp>
        <p:nvSpPr>
          <p:cNvPr id="17442" name="Rounded Rectangle 17441"/>
          <p:cNvSpPr/>
          <p:nvPr/>
        </p:nvSpPr>
        <p:spPr>
          <a:xfrm>
            <a:off x="9528048" y="4526280"/>
            <a:ext cx="2148840" cy="365760"/>
          </a:xfrm>
          <a:prstGeom prst="roundRect">
            <a:avLst>
              <a:gd name="adj" fmla="val 15000"/>
            </a:avLst>
          </a:prstGeom>
          <a:solidFill>
            <a:srgbClr val="6B4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SOCIAL</a:t>
            </a:r>
          </a:p>
        </p:txBody>
      </p:sp>
      <p:sp>
        <p:nvSpPr>
          <p:cNvPr id="17443" name="Rounded Rectangle 17442"/>
          <p:cNvSpPr/>
          <p:nvPr/>
        </p:nvSpPr>
        <p:spPr>
          <a:xfrm>
            <a:off x="9528048" y="4937760"/>
            <a:ext cx="214884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6B4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44" name="TextBox 17443"/>
          <p:cNvSpPr txBox="1"/>
          <p:nvPr/>
        </p:nvSpPr>
        <p:spPr>
          <a:xfrm>
            <a:off x="9555480" y="4965192"/>
            <a:ext cx="2093976" cy="1042415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1A1A1A"/>
                </a:solidFill>
                <a:latin typeface="Arial"/>
              </a:rPr>
              <a:t>Reduced manual intervention and human exposure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330510A-B658-D50E-DB9A-C4DADB931A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618" y="93436"/>
            <a:ext cx="1001847" cy="1001847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274320" y="1371600"/>
            <a:ext cx="3749039" cy="2331720"/>
          </a:xfrm>
          <a:prstGeom prst="roundRect">
            <a:avLst>
              <a:gd name="adj" fmla="val 5000"/>
            </a:avLst>
          </a:prstGeom>
          <a:solidFill>
            <a:srgbClr val="EFF3F8"/>
          </a:solidFill>
          <a:ln w="19050">
            <a:solidFill>
              <a:srgbClr val="1F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1" name="Rounded Rectangle 17410"/>
          <p:cNvSpPr/>
          <p:nvPr/>
        </p:nvSpPr>
        <p:spPr>
          <a:xfrm>
            <a:off x="411479" y="1225296"/>
            <a:ext cx="3474720" cy="292608"/>
          </a:xfrm>
          <a:prstGeom prst="roundRect">
            <a:avLst>
              <a:gd name="adj" fmla="val 30000"/>
            </a:avLst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150" b="1" i="0">
                <a:solidFill>
                  <a:srgbClr val="FFFFFF"/>
                </a:solidFill>
                <a:latin typeface="Arial"/>
              </a:rPr>
              <a:t>1. OFF-ROAD DATASET — RELLIS-3D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365760" y="1600200"/>
            <a:ext cx="3566159" cy="1594283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1" i="0" dirty="0">
                <a:solidFill>
                  <a:srgbClr val="1A1A1A"/>
                </a:solidFill>
                <a:latin typeface="Arial"/>
              </a:rPr>
              <a:t>Why we use it:</a:t>
            </a:r>
          </a:p>
          <a:p>
            <a:pPr algn="l">
              <a:spcAft>
                <a:spcPts val="500"/>
              </a:spcAft>
            </a:pPr>
            <a:r>
              <a:rPr sz="1250" b="0" i="0" dirty="0">
                <a:solidFill>
                  <a:srgbClr val="1A1A1A"/>
                </a:solidFill>
                <a:latin typeface="Arial"/>
              </a:rPr>
              <a:t>Off-road scenes with terrain labels to train and test </a:t>
            </a:r>
            <a:r>
              <a:rPr sz="1250" b="0" i="0" dirty="0" err="1">
                <a:solidFill>
                  <a:srgbClr val="1A1A1A"/>
                </a:solidFill>
                <a:latin typeface="Arial"/>
              </a:rPr>
              <a:t>traversability</a:t>
            </a:r>
            <a:r>
              <a:rPr sz="1250" b="0" i="0" dirty="0">
                <a:solidFill>
                  <a:srgbClr val="1A1A1A"/>
                </a:solidFill>
                <a:latin typeface="Arial"/>
              </a:rPr>
              <a:t> perception.</a:t>
            </a:r>
          </a:p>
          <a:p>
            <a:pPr algn="l">
              <a:spcAft>
                <a:spcPts val="500"/>
              </a:spcAft>
            </a:pPr>
            <a:r>
              <a:rPr sz="1250" b="1" i="0" dirty="0">
                <a:solidFill>
                  <a:srgbClr val="1A1A1A"/>
                </a:solidFill>
                <a:latin typeface="Arial"/>
              </a:rPr>
              <a:t>Reference:</a:t>
            </a:r>
          </a:p>
          <a:p>
            <a:pPr algn="l">
              <a:spcAft>
                <a:spcPts val="500"/>
              </a:spcAft>
            </a:pPr>
            <a:r>
              <a:rPr sz="1250" b="0" i="0" dirty="0">
                <a:solidFill>
                  <a:srgbClr val="1A1A1A"/>
                </a:solidFill>
                <a:latin typeface="Arial"/>
              </a:rPr>
              <a:t>Jiang et al., RELLIS-3D Dataset: Data, Benchmarks and Analysis, ICRA 2021 (arXiv:2011.12954)</a:t>
            </a:r>
            <a:r>
              <a:rPr lang="en-IN" sz="1250" b="1" i="0" dirty="0">
                <a:solidFill>
                  <a:srgbClr val="1A1A1A"/>
                </a:solidFill>
                <a:latin typeface="Arial"/>
                <a:hlinkClick r:id="rId4"/>
              </a:rPr>
              <a:t>Link</a:t>
            </a:r>
            <a:endParaRPr sz="1250" b="1" i="0" dirty="0">
              <a:solidFill>
                <a:srgbClr val="1A1A1A"/>
              </a:solidFill>
              <a:latin typeface="Arial"/>
            </a:endParaRPr>
          </a:p>
        </p:txBody>
      </p:sp>
      <p:sp>
        <p:nvSpPr>
          <p:cNvPr id="17413" name="Rounded Rectangle 17412"/>
          <p:cNvSpPr/>
          <p:nvPr/>
        </p:nvSpPr>
        <p:spPr>
          <a:xfrm>
            <a:off x="4229099" y="1371600"/>
            <a:ext cx="3749039" cy="2331720"/>
          </a:xfrm>
          <a:prstGeom prst="roundRect">
            <a:avLst>
              <a:gd name="adj" fmla="val 5000"/>
            </a:avLst>
          </a:prstGeom>
          <a:solidFill>
            <a:srgbClr val="F0F6F3"/>
          </a:solidFill>
          <a:ln w="1905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4" name="Rounded Rectangle 17413"/>
          <p:cNvSpPr/>
          <p:nvPr/>
        </p:nvSpPr>
        <p:spPr>
          <a:xfrm>
            <a:off x="4366259" y="1223390"/>
            <a:ext cx="3474720" cy="294514"/>
          </a:xfrm>
          <a:prstGeom prst="roundRect">
            <a:avLst>
              <a:gd name="adj" fmla="val 30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150" b="1" i="0" dirty="0">
                <a:solidFill>
                  <a:srgbClr val="FFFFFF"/>
                </a:solidFill>
                <a:latin typeface="Arial"/>
              </a:rPr>
              <a:t>2. OUTDOOR DATASET — GREAT OUTDOORS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4320539" y="1600200"/>
            <a:ext cx="3566159" cy="120956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1" i="0" dirty="0">
                <a:solidFill>
                  <a:srgbClr val="1A1A1A"/>
                </a:solidFill>
                <a:latin typeface="Arial"/>
              </a:rPr>
              <a:t>Why we use it:</a:t>
            </a:r>
          </a:p>
          <a:p>
            <a:pPr algn="l">
              <a:spcAft>
                <a:spcPts val="500"/>
              </a:spcAft>
            </a:pPr>
            <a:r>
              <a:rPr sz="1250" b="0" i="0" dirty="0">
                <a:solidFill>
                  <a:srgbClr val="1A1A1A"/>
                </a:solidFill>
                <a:latin typeface="Arial"/>
              </a:rPr>
              <a:t>Additional outdoor imagery for diverse-terrain training and unseen-environment tests.</a:t>
            </a:r>
          </a:p>
          <a:p>
            <a:pPr algn="l">
              <a:spcAft>
                <a:spcPts val="500"/>
              </a:spcAft>
            </a:pPr>
            <a:r>
              <a:rPr sz="1250" b="1" i="0" dirty="0">
                <a:solidFill>
                  <a:srgbClr val="1A1A1A"/>
                </a:solidFill>
                <a:latin typeface="Arial"/>
              </a:rPr>
              <a:t>Reference:</a:t>
            </a:r>
          </a:p>
          <a:p>
            <a:pPr algn="l">
              <a:spcAft>
                <a:spcPts val="500"/>
              </a:spcAft>
            </a:pPr>
            <a:r>
              <a:rPr sz="1250" b="0" i="0" dirty="0">
                <a:solidFill>
                  <a:srgbClr val="1A1A1A"/>
                </a:solidFill>
                <a:latin typeface="Arial"/>
              </a:rPr>
              <a:t>The Great Outdoors Dataset 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8183879" y="1371600"/>
            <a:ext cx="3749039" cy="2331720"/>
          </a:xfrm>
          <a:prstGeom prst="roundRect">
            <a:avLst>
              <a:gd name="adj" fmla="val 5000"/>
            </a:avLst>
          </a:prstGeom>
          <a:solidFill>
            <a:srgbClr val="FCF4EE"/>
          </a:solidFill>
          <a:ln w="19050">
            <a:solidFill>
              <a:srgbClr val="D96B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7" name="Rounded Rectangle 17416"/>
          <p:cNvSpPr/>
          <p:nvPr/>
        </p:nvSpPr>
        <p:spPr>
          <a:xfrm>
            <a:off x="8321040" y="1225296"/>
            <a:ext cx="3474720" cy="292608"/>
          </a:xfrm>
          <a:prstGeom prst="roundRect">
            <a:avLst>
              <a:gd name="adj" fmla="val 30000"/>
            </a:avLst>
          </a:prstGeom>
          <a:solidFill>
            <a:srgbClr val="D96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150" b="1" i="0">
                <a:solidFill>
                  <a:srgbClr val="FFFFFF"/>
                </a:solidFill>
                <a:latin typeface="Arial"/>
              </a:rPr>
              <a:t>3. BENCHMARK — KITTI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8275319" y="1600200"/>
            <a:ext cx="3566159" cy="1594283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1" i="0" dirty="0">
                <a:solidFill>
                  <a:srgbClr val="1A1A1A"/>
                </a:solidFill>
                <a:latin typeface="Arial"/>
              </a:rPr>
              <a:t>Why we use it:</a:t>
            </a:r>
          </a:p>
          <a:p>
            <a:pPr algn="l">
              <a:spcAft>
                <a:spcPts val="500"/>
              </a:spcAft>
            </a:pPr>
            <a:r>
              <a:rPr sz="1250" b="0" i="0" dirty="0">
                <a:solidFill>
                  <a:srgbClr val="1A1A1A"/>
                </a:solidFill>
                <a:latin typeface="Arial"/>
              </a:rPr>
              <a:t>Standard benchmark to check visual odometry and localization drift.</a:t>
            </a:r>
          </a:p>
          <a:p>
            <a:pPr algn="l">
              <a:spcAft>
                <a:spcPts val="500"/>
              </a:spcAft>
            </a:pPr>
            <a:r>
              <a:rPr sz="1250" b="1" i="0" dirty="0">
                <a:solidFill>
                  <a:srgbClr val="1A1A1A"/>
                </a:solidFill>
                <a:latin typeface="Arial"/>
              </a:rPr>
              <a:t>Reference:</a:t>
            </a:r>
          </a:p>
          <a:p>
            <a:pPr algn="l">
              <a:spcAft>
                <a:spcPts val="500"/>
              </a:spcAft>
            </a:pPr>
            <a:r>
              <a:rPr sz="1250" b="0" i="0" dirty="0">
                <a:solidFill>
                  <a:srgbClr val="1A1A1A"/>
                </a:solidFill>
                <a:latin typeface="Arial"/>
              </a:rPr>
              <a:t>Geiger, Lenz, Urtasun, Are we ready for autonomous driving? The KITTI vision benchmark suite, CVPR 2012</a:t>
            </a:r>
            <a:r>
              <a:rPr lang="en-IN" sz="1250" b="1" i="0" dirty="0">
                <a:solidFill>
                  <a:srgbClr val="1A1A1A"/>
                </a:solidFill>
                <a:latin typeface="Arial"/>
                <a:hlinkClick r:id="rId5"/>
              </a:rPr>
              <a:t>Link</a:t>
            </a:r>
            <a:endParaRPr sz="1250" b="1" i="0" dirty="0">
              <a:solidFill>
                <a:srgbClr val="1A1A1A"/>
              </a:solidFill>
              <a:latin typeface="Arial"/>
            </a:endParaRPr>
          </a:p>
        </p:txBody>
      </p:sp>
      <p:sp>
        <p:nvSpPr>
          <p:cNvPr id="17419" name="Rounded Rectangle 17418"/>
          <p:cNvSpPr/>
          <p:nvPr/>
        </p:nvSpPr>
        <p:spPr>
          <a:xfrm>
            <a:off x="274320" y="3977639"/>
            <a:ext cx="3749039" cy="2331720"/>
          </a:xfrm>
          <a:prstGeom prst="roundRect">
            <a:avLst>
              <a:gd name="adj" fmla="val 5000"/>
            </a:avLst>
          </a:prstGeom>
          <a:solidFill>
            <a:srgbClr val="F4F2F8"/>
          </a:solidFill>
          <a:ln w="19050">
            <a:solidFill>
              <a:srgbClr val="6B4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0" name="Rounded Rectangle 17419"/>
          <p:cNvSpPr/>
          <p:nvPr/>
        </p:nvSpPr>
        <p:spPr>
          <a:xfrm>
            <a:off x="411479" y="3831335"/>
            <a:ext cx="3474720" cy="292608"/>
          </a:xfrm>
          <a:prstGeom prst="roundRect">
            <a:avLst>
              <a:gd name="adj" fmla="val 30000"/>
            </a:avLst>
          </a:prstGeom>
          <a:solidFill>
            <a:srgbClr val="6B4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150" b="1" i="0">
                <a:solidFill>
                  <a:srgbClr val="FFFFFF"/>
                </a:solidFill>
                <a:latin typeface="Arial"/>
              </a:rPr>
              <a:t>4. VISUAL SLAM — ORB-SLAM3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365760" y="4206240"/>
            <a:ext cx="3566159" cy="140192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1" i="0" dirty="0">
                <a:solidFill>
                  <a:srgbClr val="1A1A1A"/>
                </a:solidFill>
                <a:latin typeface="Arial"/>
              </a:rPr>
              <a:t>Why we use it:</a:t>
            </a:r>
          </a:p>
          <a:p>
            <a:pPr algn="l">
              <a:spcAft>
                <a:spcPts val="500"/>
              </a:spcAft>
            </a:pPr>
            <a:r>
              <a:rPr sz="1250" b="0" i="0" dirty="0">
                <a:solidFill>
                  <a:srgbClr val="1A1A1A"/>
                </a:solidFill>
                <a:latin typeface="Arial"/>
              </a:rPr>
              <a:t>Reference for camera-based (and visual-inertial) localization and mapping.</a:t>
            </a:r>
          </a:p>
          <a:p>
            <a:pPr algn="l">
              <a:spcAft>
                <a:spcPts val="500"/>
              </a:spcAft>
            </a:pPr>
            <a:r>
              <a:rPr sz="1250" b="1" i="0" dirty="0">
                <a:solidFill>
                  <a:srgbClr val="1A1A1A"/>
                </a:solidFill>
                <a:latin typeface="Arial"/>
              </a:rPr>
              <a:t>Reference:</a:t>
            </a:r>
          </a:p>
          <a:p>
            <a:pPr algn="l">
              <a:spcAft>
                <a:spcPts val="500"/>
              </a:spcAft>
            </a:pPr>
            <a:r>
              <a:rPr sz="1250" b="0" i="0" dirty="0">
                <a:solidFill>
                  <a:srgbClr val="1A1A1A"/>
                </a:solidFill>
                <a:latin typeface="Arial"/>
              </a:rPr>
              <a:t>Campos et al., ORB-SLAM3, IEEE Trans. Robotics 37(6), 2021 (arXiv:2007.11898</a:t>
            </a:r>
            <a:r>
              <a:rPr lang="en-IN" sz="1250" b="1" i="0" dirty="0">
                <a:solidFill>
                  <a:srgbClr val="1A1A1A"/>
                </a:solidFill>
                <a:latin typeface="Arial"/>
                <a:hlinkClick r:id="rId6"/>
              </a:rPr>
              <a:t>Link</a:t>
            </a:r>
            <a:endParaRPr sz="1250" b="1" i="0" dirty="0">
              <a:solidFill>
                <a:srgbClr val="1A1A1A"/>
              </a:solidFill>
              <a:latin typeface="Arial"/>
            </a:endParaRPr>
          </a:p>
        </p:txBody>
      </p:sp>
      <p:sp>
        <p:nvSpPr>
          <p:cNvPr id="17422" name="Rounded Rectangle 17421"/>
          <p:cNvSpPr/>
          <p:nvPr/>
        </p:nvSpPr>
        <p:spPr>
          <a:xfrm>
            <a:off x="4229099" y="3977639"/>
            <a:ext cx="3749039" cy="2331720"/>
          </a:xfrm>
          <a:prstGeom prst="roundRect">
            <a:avLst>
              <a:gd name="adj" fmla="val 5000"/>
            </a:avLst>
          </a:prstGeom>
          <a:solidFill>
            <a:srgbClr val="EEF6F7"/>
          </a:solidFill>
          <a:ln w="19050">
            <a:solidFill>
              <a:srgbClr val="118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3" name="Rounded Rectangle 17422"/>
          <p:cNvSpPr/>
          <p:nvPr/>
        </p:nvSpPr>
        <p:spPr>
          <a:xfrm>
            <a:off x="4366259" y="3831335"/>
            <a:ext cx="3474720" cy="292608"/>
          </a:xfrm>
          <a:prstGeom prst="roundRect">
            <a:avLst>
              <a:gd name="adj" fmla="val 30000"/>
            </a:avLst>
          </a:prstGeom>
          <a:solidFill>
            <a:srgbClr val="118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150" b="1" i="0" dirty="0">
                <a:solidFill>
                  <a:srgbClr val="FFFFFF"/>
                </a:solidFill>
                <a:latin typeface="Arial"/>
              </a:rPr>
              <a:t>5. LIGHT PERCEPTION — MobileNetV3</a:t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4320539" y="4206240"/>
            <a:ext cx="3566159" cy="140192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1" i="0" dirty="0">
                <a:solidFill>
                  <a:srgbClr val="1A1A1A"/>
                </a:solidFill>
                <a:latin typeface="Arial"/>
              </a:rPr>
              <a:t>Why we use it:</a:t>
            </a:r>
          </a:p>
          <a:p>
            <a:pPr algn="l">
              <a:spcAft>
                <a:spcPts val="500"/>
              </a:spcAft>
            </a:pPr>
            <a:r>
              <a:rPr sz="1250" b="0" i="0" dirty="0">
                <a:solidFill>
                  <a:srgbClr val="1A1A1A"/>
                </a:solidFill>
                <a:latin typeface="Arial"/>
              </a:rPr>
              <a:t>Basis for a small, fast backbone that runs in real time on edge hardware.</a:t>
            </a:r>
          </a:p>
          <a:p>
            <a:pPr algn="l">
              <a:spcAft>
                <a:spcPts val="500"/>
              </a:spcAft>
            </a:pPr>
            <a:r>
              <a:rPr sz="1250" b="1" i="0" dirty="0">
                <a:solidFill>
                  <a:srgbClr val="1A1A1A"/>
                </a:solidFill>
                <a:latin typeface="Arial"/>
              </a:rPr>
              <a:t>Reference:</a:t>
            </a:r>
          </a:p>
          <a:p>
            <a:pPr algn="l">
              <a:spcAft>
                <a:spcPts val="500"/>
              </a:spcAft>
            </a:pPr>
            <a:r>
              <a:rPr sz="1250" b="0" i="0" dirty="0">
                <a:solidFill>
                  <a:srgbClr val="1A1A1A"/>
                </a:solidFill>
                <a:latin typeface="Arial"/>
              </a:rPr>
              <a:t>Howard et al., Searching for MobileNetV3, ICCV 2019 (arXiv:1905.02244)</a:t>
            </a:r>
            <a:r>
              <a:rPr lang="en-IN" sz="1250" b="1" i="0" dirty="0">
                <a:solidFill>
                  <a:srgbClr val="1A1A1A"/>
                </a:solidFill>
                <a:latin typeface="Arial"/>
                <a:hlinkClick r:id="rId7"/>
              </a:rPr>
              <a:t>Link</a:t>
            </a:r>
            <a:endParaRPr sz="1250" b="1" i="0" dirty="0">
              <a:solidFill>
                <a:srgbClr val="1A1A1A"/>
              </a:solidFill>
              <a:latin typeface="Arial"/>
            </a:endParaRPr>
          </a:p>
        </p:txBody>
      </p:sp>
      <p:sp>
        <p:nvSpPr>
          <p:cNvPr id="17425" name="Rounded Rectangle 17424"/>
          <p:cNvSpPr/>
          <p:nvPr/>
        </p:nvSpPr>
        <p:spPr>
          <a:xfrm>
            <a:off x="8183879" y="3977639"/>
            <a:ext cx="3749039" cy="2331720"/>
          </a:xfrm>
          <a:prstGeom prst="roundRect">
            <a:avLst>
              <a:gd name="adj" fmla="val 5000"/>
            </a:avLst>
          </a:prstGeom>
          <a:solidFill>
            <a:srgbClr val="FAF1F0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6" name="Rounded Rectangle 17425"/>
          <p:cNvSpPr/>
          <p:nvPr/>
        </p:nvSpPr>
        <p:spPr>
          <a:xfrm>
            <a:off x="8321040" y="3831335"/>
            <a:ext cx="3474720" cy="292608"/>
          </a:xfrm>
          <a:prstGeom prst="roundRect">
            <a:avLst>
              <a:gd name="adj" fmla="val 30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150" b="1" i="0" dirty="0">
                <a:solidFill>
                  <a:srgbClr val="FFFFFF"/>
                </a:solidFill>
                <a:latin typeface="Arial"/>
              </a:rPr>
              <a:t>6. EXISTING vs OUR CONTRIBUTION</a:t>
            </a:r>
          </a:p>
        </p:txBody>
      </p:sp>
      <p:sp>
        <p:nvSpPr>
          <p:cNvPr id="17427" name="TextBox 17426"/>
          <p:cNvSpPr txBox="1"/>
          <p:nvPr/>
        </p:nvSpPr>
        <p:spPr>
          <a:xfrm>
            <a:off x="8275319" y="4206240"/>
            <a:ext cx="3566159" cy="1850763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1" i="0" dirty="0">
                <a:solidFill>
                  <a:srgbClr val="1A1A1A"/>
                </a:solidFill>
                <a:latin typeface="Arial"/>
              </a:rPr>
              <a:t>Existing:</a:t>
            </a:r>
          </a:p>
          <a:p>
            <a:pPr algn="l">
              <a:spcAft>
                <a:spcPts val="500"/>
              </a:spcAft>
            </a:pPr>
            <a:r>
              <a:rPr sz="1250" b="0" i="0" dirty="0">
                <a:solidFill>
                  <a:srgbClr val="1A1A1A"/>
                </a:solidFill>
                <a:latin typeface="Arial"/>
              </a:rPr>
              <a:t>Autonomous UGVs, visual SLAM and terrain segmentation are established.</a:t>
            </a:r>
          </a:p>
          <a:p>
            <a:pPr algn="l">
              <a:spcAft>
                <a:spcPts val="500"/>
              </a:spcAft>
            </a:pPr>
            <a:r>
              <a:rPr sz="1250" b="1" i="0" dirty="0">
                <a:solidFill>
                  <a:srgbClr val="1A1A1A"/>
                </a:solidFill>
                <a:latin typeface="Arial"/>
              </a:rPr>
              <a:t>Our contribution:</a:t>
            </a:r>
          </a:p>
          <a:p>
            <a:pPr algn="l">
              <a:spcAft>
                <a:spcPts val="500"/>
              </a:spcAft>
            </a:pPr>
            <a:r>
              <a:rPr sz="1250" b="0" i="0" dirty="0">
                <a:solidFill>
                  <a:srgbClr val="1A1A1A"/>
                </a:solidFill>
                <a:latin typeface="Arial"/>
              </a:rPr>
              <a:t>One integrated, lightweight, vision-only GPS-denied pipeline on low-cost hardware, tested on unseen outdoor terrain.</a:t>
            </a:r>
          </a:p>
          <a:p>
            <a:pPr algn="l">
              <a:spcAft>
                <a:spcPts val="500"/>
              </a:spcAft>
            </a:pPr>
            <a:r>
              <a:rPr sz="1250" b="1" i="0" dirty="0">
                <a:solidFill>
                  <a:srgbClr val="1A1A1A"/>
                </a:solidFill>
                <a:latin typeface="Arial"/>
              </a:rPr>
              <a:t>Source: </a:t>
            </a:r>
            <a:r>
              <a:rPr sz="1250" b="0" i="0" dirty="0">
                <a:solidFill>
                  <a:srgbClr val="1A1A1A"/>
                </a:solidFill>
                <a:latin typeface="Arial"/>
              </a:rPr>
              <a:t>Official problem statement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BDE4A95-F100-9A68-9BD4-3CF850817FD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2618" y="93436"/>
            <a:ext cx="1001847" cy="1001847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7638</TotalTime>
  <Words>794</Words>
  <Application>Microsoft Office PowerPoint</Application>
  <PresentationFormat>Widescreen</PresentationFormat>
  <Paragraphs>173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ＭＳ Ｐゴシック</vt:lpstr>
      <vt:lpstr>Arial</vt:lpstr>
      <vt:lpstr>Calibri</vt:lpstr>
      <vt:lpstr>Garamond</vt:lpstr>
      <vt:lpstr>Times New Roman</vt:lpstr>
      <vt:lpstr>TradeGothic</vt:lpstr>
      <vt:lpstr>Office Theme</vt:lpstr>
      <vt:lpstr>SMART INDIA HACKATHON 2026</vt:lpstr>
      <vt:lpstr> VISION-FIRST AUTONOMOUS UGV FOR GPS-DENIED OUTDOOR NAVIGATION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Dowin Silva</cp:lastModifiedBy>
  <cp:revision>151</cp:revision>
  <dcterms:created xsi:type="dcterms:W3CDTF">2013-12-12T18:46:50Z</dcterms:created>
  <dcterms:modified xsi:type="dcterms:W3CDTF">2026-09-30T15:20:11Z</dcterms:modified>
  <cp:category/>
</cp:coreProperties>
</file>